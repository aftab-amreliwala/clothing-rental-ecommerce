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9702800"/>
  <p:notesSz cx="11430000" cy="9702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608" y="-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D5E4E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D5E4E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24879" y="1905444"/>
            <a:ext cx="4771390" cy="338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431450"/>
            <a:ext cx="6287770" cy="475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879" y="1162170"/>
            <a:ext cx="10106660" cy="1470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D5E4E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2194563"/>
            <a:ext cx="2602230" cy="94234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pc="90" dirty="0">
                <a:solidFill>
                  <a:srgbClr val="F989C7"/>
                </a:solidFill>
              </a:rPr>
              <a:t>Elite</a:t>
            </a:r>
            <a:r>
              <a:rPr spc="130" dirty="0">
                <a:solidFill>
                  <a:srgbClr val="F989C7"/>
                </a:solidFill>
              </a:rPr>
              <a:t> </a:t>
            </a:r>
            <a:r>
              <a:rPr spc="110" dirty="0">
                <a:solidFill>
                  <a:srgbClr val="F989C7"/>
                </a:solidFill>
              </a:rPr>
              <a:t>Shoppy</a:t>
            </a: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450" spc="75" dirty="0">
                <a:solidFill>
                  <a:srgbClr val="F989C7"/>
                </a:solidFill>
              </a:rPr>
              <a:t>Online</a:t>
            </a:r>
            <a:r>
              <a:rPr sz="1450" spc="170" dirty="0">
                <a:solidFill>
                  <a:srgbClr val="F989C7"/>
                </a:solidFill>
              </a:rPr>
              <a:t> </a:t>
            </a:r>
            <a:r>
              <a:rPr sz="1450" spc="80" dirty="0">
                <a:solidFill>
                  <a:srgbClr val="F989C7"/>
                </a:solidFill>
              </a:rPr>
              <a:t>Clothes</a:t>
            </a:r>
            <a:r>
              <a:rPr sz="1450" spc="165" dirty="0">
                <a:solidFill>
                  <a:srgbClr val="F989C7"/>
                </a:solidFill>
              </a:rPr>
              <a:t> </a:t>
            </a:r>
            <a:r>
              <a:rPr sz="1450" dirty="0">
                <a:solidFill>
                  <a:srgbClr val="F989C7"/>
                </a:solidFill>
              </a:rPr>
              <a:t>Rental</a:t>
            </a:r>
            <a:r>
              <a:rPr sz="1450" spc="170" dirty="0">
                <a:solidFill>
                  <a:srgbClr val="F989C7"/>
                </a:solidFill>
              </a:rPr>
              <a:t> </a:t>
            </a:r>
            <a:r>
              <a:rPr sz="1450" spc="65" dirty="0">
                <a:solidFill>
                  <a:srgbClr val="F989C7"/>
                </a:solidFill>
              </a:rPr>
              <a:t>System</a:t>
            </a:r>
            <a:endParaRPr sz="1450"/>
          </a:p>
        </p:txBody>
      </p:sp>
      <p:sp>
        <p:nvSpPr>
          <p:cNvPr id="5" name="object 5"/>
          <p:cNvSpPr txBox="1"/>
          <p:nvPr/>
        </p:nvSpPr>
        <p:spPr>
          <a:xfrm>
            <a:off x="4911128" y="3380771"/>
            <a:ext cx="4866640" cy="8342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BCA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75" dirty="0">
                <a:solidFill>
                  <a:srgbClr val="D6E5EF"/>
                </a:solidFill>
                <a:latin typeface="Tahoma"/>
                <a:cs typeface="Tahoma"/>
              </a:rPr>
              <a:t>Web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Development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Project</a:t>
            </a:r>
            <a:endParaRPr sz="12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2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50" spc="-35" dirty="0" err="1" smtClean="0">
                <a:solidFill>
                  <a:srgbClr val="D6E5EF"/>
                </a:solidFill>
                <a:latin typeface="Tahoma"/>
                <a:cs typeface="Tahoma"/>
              </a:rPr>
              <a:t>Moham</a:t>
            </a:r>
            <a:r>
              <a:rPr lang="en-IN" sz="1250" spc="-35" dirty="0" smtClean="0">
                <a:solidFill>
                  <a:srgbClr val="D6E5EF"/>
                </a:solidFill>
                <a:latin typeface="Tahoma"/>
                <a:cs typeface="Tahoma"/>
              </a:rPr>
              <a:t>med </a:t>
            </a:r>
            <a:r>
              <a:rPr lang="en-IN" sz="1250" spc="-35" dirty="0" err="1" smtClean="0">
                <a:solidFill>
                  <a:srgbClr val="D6E5EF"/>
                </a:solidFill>
                <a:latin typeface="Tahoma"/>
                <a:cs typeface="Tahoma"/>
              </a:rPr>
              <a:t>Aftab</a:t>
            </a:r>
            <a:r>
              <a:rPr lang="en-IN" sz="1250" spc="-35" dirty="0" smtClean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lang="en-IN" sz="1250" spc="-35" dirty="0" err="1" smtClean="0">
                <a:solidFill>
                  <a:srgbClr val="D6E5EF"/>
                </a:solidFill>
                <a:latin typeface="Tahoma"/>
                <a:cs typeface="Tahoma"/>
              </a:rPr>
              <a:t>Amreliwala</a:t>
            </a:r>
            <a:r>
              <a:rPr sz="1250" spc="-185" dirty="0" smtClean="0">
                <a:solidFill>
                  <a:srgbClr val="D6E5EF"/>
                </a:solidFill>
                <a:latin typeface="Tahoma"/>
                <a:cs typeface="Tahoma"/>
              </a:rPr>
              <a:t>|</a:t>
            </a:r>
            <a:r>
              <a:rPr lang="en-IN" sz="1250" spc="-185" dirty="0" smtClean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80" dirty="0" smtClean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Udhana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Citizen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Commerce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College</a:t>
            </a:r>
            <a:r>
              <a:rPr sz="1250" spc="-55" dirty="0" smtClean="0">
                <a:solidFill>
                  <a:srgbClr val="D6E5EF"/>
                </a:solidFill>
                <a:latin typeface="Tahoma"/>
                <a:cs typeface="Tahoma"/>
              </a:rPr>
              <a:t>|</a:t>
            </a:r>
            <a:endParaRPr lang="en-IN" sz="1250" spc="-55" dirty="0" smtClean="0">
              <a:solidFill>
                <a:srgbClr val="D6E5EF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50" spc="-85" dirty="0" smtClean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10-03-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2026</a:t>
            </a:r>
            <a:endParaRPr sz="12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734300"/>
          </a:xfrm>
          <a:custGeom>
            <a:avLst/>
            <a:gdLst/>
            <a:ahLst/>
            <a:cxnLst/>
            <a:rect l="l" t="t" r="r" b="b"/>
            <a:pathLst>
              <a:path w="11430000" h="7734300">
                <a:moveTo>
                  <a:pt x="11430000" y="0"/>
                </a:moveTo>
                <a:lnTo>
                  <a:pt x="0" y="0"/>
                </a:lnTo>
                <a:lnTo>
                  <a:pt x="0" y="7734300"/>
                </a:lnTo>
                <a:lnTo>
                  <a:pt x="11430000" y="7734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77340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F989C7"/>
                </a:solidFill>
              </a:rPr>
              <a:t>Project</a:t>
            </a:r>
            <a:r>
              <a:rPr spc="155" dirty="0">
                <a:solidFill>
                  <a:srgbClr val="F989C7"/>
                </a:solidFill>
              </a:rPr>
              <a:t> </a:t>
            </a:r>
            <a:r>
              <a:rPr spc="95" dirty="0">
                <a:solidFill>
                  <a:srgbClr val="F989C7"/>
                </a:solidFill>
              </a:rPr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4879" y="1076445"/>
            <a:ext cx="5814695" cy="225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975">
              <a:lnSpc>
                <a:spcPct val="135000"/>
              </a:lnSpc>
              <a:spcBef>
                <a:spcPts val="100"/>
              </a:spcBef>
            </a:pP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Elite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Shoppy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is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an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innovative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online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platform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revolutionizes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way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people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access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fashionable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clothing.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system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provides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an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affordable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alternative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purchasing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expensive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branded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5" dirty="0">
                <a:solidFill>
                  <a:srgbClr val="D6E5EF"/>
                </a:solidFill>
                <a:latin typeface="Tahoma"/>
                <a:cs typeface="Tahoma"/>
              </a:rPr>
              <a:t>outfits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by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enabling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users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rent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high-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quality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clothes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for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special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occasions,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events,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celebrations.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350"/>
              </a:spcBef>
            </a:pP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platform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connects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fashion-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conscious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customers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with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premium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brands, allowing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them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wear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designer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5" dirty="0">
                <a:solidFill>
                  <a:srgbClr val="D6E5EF"/>
                </a:solidFill>
                <a:latin typeface="Tahoma"/>
                <a:cs typeface="Tahoma"/>
              </a:rPr>
              <a:t>outfits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without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financial</a:t>
            </a:r>
            <a:r>
              <a:rPr sz="1250" spc="-114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commitment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of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ownership.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This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approach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promotes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sustainable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fashion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by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reducing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unnecessary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clothing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purchases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while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providing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access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diverse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wardrobe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of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styles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brands.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8175" y="3543300"/>
            <a:ext cx="2857500" cy="2047875"/>
            <a:chOff x="638175" y="3543300"/>
            <a:chExt cx="2857500" cy="2047875"/>
          </a:xfrm>
        </p:grpSpPr>
        <p:sp>
          <p:nvSpPr>
            <p:cNvPr id="7" name="object 7"/>
            <p:cNvSpPr/>
            <p:nvPr/>
          </p:nvSpPr>
          <p:spPr>
            <a:xfrm>
              <a:off x="638175" y="3543300"/>
              <a:ext cx="2857500" cy="2047875"/>
            </a:xfrm>
            <a:custGeom>
              <a:avLst/>
              <a:gdLst/>
              <a:ahLst/>
              <a:cxnLst/>
              <a:rect l="l" t="t" r="r" b="b"/>
              <a:pathLst>
                <a:path w="2857500" h="2047875">
                  <a:moveTo>
                    <a:pt x="2840215" y="0"/>
                  </a:moveTo>
                  <a:lnTo>
                    <a:pt x="17283" y="0"/>
                  </a:lnTo>
                  <a:lnTo>
                    <a:pt x="14738" y="508"/>
                  </a:lnTo>
                  <a:lnTo>
                    <a:pt x="0" y="17284"/>
                  </a:lnTo>
                  <a:lnTo>
                    <a:pt x="0" y="2027948"/>
                  </a:lnTo>
                  <a:lnTo>
                    <a:pt x="0" y="2030590"/>
                  </a:lnTo>
                  <a:lnTo>
                    <a:pt x="17283" y="2047875"/>
                  </a:lnTo>
                  <a:lnTo>
                    <a:pt x="2840215" y="2047875"/>
                  </a:lnTo>
                  <a:lnTo>
                    <a:pt x="2857500" y="2030590"/>
                  </a:lnTo>
                  <a:lnTo>
                    <a:pt x="2857500" y="17284"/>
                  </a:lnTo>
                  <a:lnTo>
                    <a:pt x="2842755" y="508"/>
                  </a:lnTo>
                  <a:lnTo>
                    <a:pt x="2840215" y="0"/>
                  </a:lnTo>
                  <a:close/>
                </a:path>
              </a:pathLst>
            </a:custGeom>
            <a:solidFill>
              <a:srgbClr val="434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3705225"/>
              <a:ext cx="476249" cy="476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986" y="3838852"/>
              <a:ext cx="224903" cy="21441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84274" y="4324222"/>
            <a:ext cx="230568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5" dirty="0">
                <a:solidFill>
                  <a:srgbClr val="D6E5EF"/>
                </a:solidFill>
                <a:latin typeface="Cambria"/>
                <a:cs typeface="Cambria"/>
              </a:rPr>
              <a:t>Online</a:t>
            </a:r>
            <a:r>
              <a:rPr sz="1450" spc="80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40" dirty="0">
                <a:solidFill>
                  <a:srgbClr val="D6E5EF"/>
                </a:solidFill>
                <a:latin typeface="Cambria"/>
                <a:cs typeface="Cambria"/>
              </a:rPr>
              <a:t>Platform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Complete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web-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based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system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for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browsing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renting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clothes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from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anywhere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48075" y="3543300"/>
            <a:ext cx="2857500" cy="2047875"/>
            <a:chOff x="3648075" y="3543300"/>
            <a:chExt cx="2857500" cy="2047875"/>
          </a:xfrm>
        </p:grpSpPr>
        <p:sp>
          <p:nvSpPr>
            <p:cNvPr id="12" name="object 12"/>
            <p:cNvSpPr/>
            <p:nvPr/>
          </p:nvSpPr>
          <p:spPr>
            <a:xfrm>
              <a:off x="3648075" y="3543300"/>
              <a:ext cx="2857500" cy="2047875"/>
            </a:xfrm>
            <a:custGeom>
              <a:avLst/>
              <a:gdLst/>
              <a:ahLst/>
              <a:cxnLst/>
              <a:rect l="l" t="t" r="r" b="b"/>
              <a:pathLst>
                <a:path w="2857500" h="2047875">
                  <a:moveTo>
                    <a:pt x="2840215" y="0"/>
                  </a:moveTo>
                  <a:lnTo>
                    <a:pt x="17284" y="0"/>
                  </a:lnTo>
                  <a:lnTo>
                    <a:pt x="14744" y="508"/>
                  </a:lnTo>
                  <a:lnTo>
                    <a:pt x="0" y="17284"/>
                  </a:lnTo>
                  <a:lnTo>
                    <a:pt x="0" y="2027948"/>
                  </a:lnTo>
                  <a:lnTo>
                    <a:pt x="0" y="2030590"/>
                  </a:lnTo>
                  <a:lnTo>
                    <a:pt x="17284" y="2047875"/>
                  </a:lnTo>
                  <a:lnTo>
                    <a:pt x="2840215" y="2047875"/>
                  </a:lnTo>
                  <a:lnTo>
                    <a:pt x="2857500" y="2030590"/>
                  </a:lnTo>
                  <a:lnTo>
                    <a:pt x="2857500" y="17284"/>
                  </a:lnTo>
                  <a:lnTo>
                    <a:pt x="2842755" y="508"/>
                  </a:lnTo>
                  <a:lnTo>
                    <a:pt x="2840215" y="0"/>
                  </a:lnTo>
                  <a:close/>
                </a:path>
              </a:pathLst>
            </a:custGeom>
            <a:solidFill>
              <a:srgbClr val="434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9" y="3705225"/>
              <a:ext cx="476249" cy="476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1868" y="3833809"/>
              <a:ext cx="198024" cy="22458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798189" y="4324222"/>
            <a:ext cx="2305685" cy="816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D6E5EF"/>
                </a:solidFill>
                <a:latin typeface="Cambria"/>
                <a:cs typeface="Cambria"/>
              </a:rPr>
              <a:t>Fashion</a:t>
            </a:r>
            <a:r>
              <a:rPr sz="1450" spc="365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-10" dirty="0">
                <a:solidFill>
                  <a:srgbClr val="D6E5EF"/>
                </a:solidFill>
                <a:latin typeface="Cambria"/>
                <a:cs typeface="Cambria"/>
              </a:rPr>
              <a:t>Rental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Access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branded,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fashionable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at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affordable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rental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prices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8175" y="5753100"/>
            <a:ext cx="5867400" cy="1543050"/>
            <a:chOff x="638175" y="5753100"/>
            <a:chExt cx="5867400" cy="1543050"/>
          </a:xfrm>
        </p:grpSpPr>
        <p:sp>
          <p:nvSpPr>
            <p:cNvPr id="17" name="object 17"/>
            <p:cNvSpPr/>
            <p:nvPr/>
          </p:nvSpPr>
          <p:spPr>
            <a:xfrm>
              <a:off x="638175" y="5753100"/>
              <a:ext cx="5867400" cy="1543050"/>
            </a:xfrm>
            <a:custGeom>
              <a:avLst/>
              <a:gdLst/>
              <a:ahLst/>
              <a:cxnLst/>
              <a:rect l="l" t="t" r="r" b="b"/>
              <a:pathLst>
                <a:path w="5867400" h="1543050">
                  <a:moveTo>
                    <a:pt x="5850115" y="0"/>
                  </a:moveTo>
                  <a:lnTo>
                    <a:pt x="17283" y="0"/>
                  </a:lnTo>
                  <a:lnTo>
                    <a:pt x="14738" y="508"/>
                  </a:lnTo>
                  <a:lnTo>
                    <a:pt x="0" y="17284"/>
                  </a:lnTo>
                  <a:lnTo>
                    <a:pt x="0" y="1523122"/>
                  </a:lnTo>
                  <a:lnTo>
                    <a:pt x="0" y="1525766"/>
                  </a:lnTo>
                  <a:lnTo>
                    <a:pt x="17283" y="1543046"/>
                  </a:lnTo>
                  <a:lnTo>
                    <a:pt x="5850115" y="1543046"/>
                  </a:lnTo>
                  <a:lnTo>
                    <a:pt x="5867400" y="1525766"/>
                  </a:lnTo>
                  <a:lnTo>
                    <a:pt x="5867400" y="17284"/>
                  </a:lnTo>
                  <a:lnTo>
                    <a:pt x="5852655" y="508"/>
                  </a:lnTo>
                  <a:lnTo>
                    <a:pt x="5850115" y="0"/>
                  </a:lnTo>
                  <a:close/>
                </a:path>
              </a:pathLst>
            </a:custGeom>
            <a:solidFill>
              <a:srgbClr val="434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5915025"/>
              <a:ext cx="476249" cy="4762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530" y="6043468"/>
              <a:ext cx="209844" cy="22473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84274" y="6534024"/>
            <a:ext cx="4163695" cy="559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D6E5EF"/>
                </a:solidFill>
                <a:latin typeface="Cambria"/>
                <a:cs typeface="Cambria"/>
              </a:rPr>
              <a:t>Flexible</a:t>
            </a:r>
            <a:r>
              <a:rPr sz="1450" spc="409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40" dirty="0">
                <a:solidFill>
                  <a:srgbClr val="D6E5EF"/>
                </a:solidFill>
                <a:latin typeface="Cambria"/>
                <a:cs typeface="Cambria"/>
              </a:rPr>
              <a:t>Periods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Rent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clothes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for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specific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durations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tailored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your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event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needs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25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879" y="802925"/>
            <a:ext cx="319976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Project</a:t>
            </a:r>
            <a:r>
              <a:rPr spc="150" dirty="0"/>
              <a:t> </a:t>
            </a:r>
            <a:r>
              <a:rPr spc="110" dirty="0"/>
              <a:t>Objectives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2543174"/>
            <a:ext cx="5000624" cy="190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4879" y="2647823"/>
            <a:ext cx="455231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50" dirty="0">
                <a:solidFill>
                  <a:srgbClr val="D5E4EF"/>
                </a:solidFill>
                <a:latin typeface="Cambria"/>
                <a:cs typeface="Cambria"/>
              </a:rPr>
              <a:t>Simplified</a:t>
            </a:r>
            <a:r>
              <a:rPr sz="1450" spc="22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D5E4EF"/>
                </a:solidFill>
                <a:latin typeface="Cambria"/>
                <a:cs typeface="Cambria"/>
              </a:rPr>
              <a:t>Rental</a:t>
            </a:r>
            <a:r>
              <a:rPr sz="1450" spc="22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D5E4EF"/>
                </a:solidFill>
                <a:latin typeface="Cambria"/>
                <a:cs typeface="Cambria"/>
              </a:rPr>
              <a:t>Process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Create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an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intuitive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online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clothes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that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eliminates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the complexity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inconvenience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traditional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methods,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making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fashion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accessible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everyone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879" y="1552695"/>
            <a:ext cx="97904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Elite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Shoppy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was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designed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clear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goals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that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address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both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needs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operational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efficiency.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aims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provide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a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seamless,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user-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friendly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experience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while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maintaining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robust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administrative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control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management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capabilities.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50">
              <a:latin typeface="Tahoma"/>
              <a:cs typeface="Tahoma"/>
            </a:endParaRPr>
          </a:p>
          <a:p>
            <a:pPr marL="13335">
              <a:lnSpc>
                <a:spcPct val="100000"/>
              </a:lnSpc>
              <a:tabLst>
                <a:tab pos="5157470" algn="l"/>
              </a:tabLst>
            </a:pPr>
            <a:r>
              <a:rPr sz="1250" spc="-25" dirty="0">
                <a:solidFill>
                  <a:srgbClr val="D5E4EF"/>
                </a:solidFill>
                <a:latin typeface="Cambria"/>
                <a:cs typeface="Cambria"/>
              </a:rPr>
              <a:t>01</a:t>
            </a:r>
            <a:r>
              <a:rPr sz="1250" dirty="0">
                <a:solidFill>
                  <a:srgbClr val="D5E4EF"/>
                </a:solidFill>
                <a:latin typeface="Cambria"/>
                <a:cs typeface="Cambria"/>
              </a:rPr>
              <a:t>	</a:t>
            </a:r>
            <a:r>
              <a:rPr sz="1250" spc="-25" dirty="0">
                <a:solidFill>
                  <a:srgbClr val="D5E4EF"/>
                </a:solidFill>
                <a:latin typeface="Cambria"/>
                <a:cs typeface="Cambria"/>
              </a:rPr>
              <a:t>02</a:t>
            </a:r>
            <a:endParaRPr sz="125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199" y="2543174"/>
            <a:ext cx="5000624" cy="190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81922" y="2647823"/>
            <a:ext cx="472313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50" dirty="0">
                <a:solidFill>
                  <a:srgbClr val="D5E4EF"/>
                </a:solidFill>
                <a:latin typeface="Cambria"/>
                <a:cs typeface="Cambria"/>
              </a:rPr>
              <a:t>Affordable</a:t>
            </a:r>
            <a:r>
              <a:rPr sz="1450" spc="1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D5E4EF"/>
                </a:solidFill>
                <a:latin typeface="Cambria"/>
                <a:cs typeface="Cambria"/>
              </a:rPr>
              <a:t>Brand</a:t>
            </a:r>
            <a:r>
              <a:rPr sz="1450" spc="1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Access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Enable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users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access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premium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branded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significantly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lower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costs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compared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purchasing,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democratizing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fashion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all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economic backgrounds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0740" y="4018946"/>
            <a:ext cx="21336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solidFill>
                  <a:srgbClr val="D5E4EF"/>
                </a:solidFill>
                <a:latin typeface="Cambria"/>
                <a:cs typeface="Cambria"/>
              </a:rPr>
              <a:t>03</a:t>
            </a:r>
            <a:endParaRPr sz="125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4" y="4286249"/>
            <a:ext cx="5000624" cy="190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24879" y="4390897"/>
            <a:ext cx="477647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55" dirty="0">
                <a:solidFill>
                  <a:srgbClr val="D5E4EF"/>
                </a:solidFill>
                <a:latin typeface="Cambria"/>
                <a:cs typeface="Cambria"/>
              </a:rPr>
              <a:t>Sustainable</a:t>
            </a:r>
            <a:r>
              <a:rPr sz="1450" spc="7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-10" dirty="0">
                <a:solidFill>
                  <a:srgbClr val="D5E4EF"/>
                </a:solidFill>
                <a:latin typeface="Cambria"/>
                <a:cs typeface="Cambria"/>
              </a:rPr>
              <a:t>Fashion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Reduce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unnecessary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purchases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by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promoting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culture,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contributing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environmental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sustainability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through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reuse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and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reduced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waste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68974" y="4018946"/>
            <a:ext cx="21082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solidFill>
                  <a:srgbClr val="D5E4EF"/>
                </a:solidFill>
                <a:latin typeface="Cambria"/>
                <a:cs typeface="Cambria"/>
              </a:rPr>
              <a:t>04</a:t>
            </a:r>
            <a:endParaRPr sz="125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199" y="4286249"/>
            <a:ext cx="5000624" cy="190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781922" y="4390897"/>
            <a:ext cx="4583430" cy="816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Efficient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Management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Provide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administrators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comprehensive,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easy-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to-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use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for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managing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inventory,</a:t>
            </a:r>
            <a:r>
              <a:rPr sz="1250" spc="-7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orders,</a:t>
            </a:r>
            <a:r>
              <a:rPr sz="1250" spc="-7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relationships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efficiently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25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879" y="1031525"/>
            <a:ext cx="303974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System </a:t>
            </a:r>
            <a:r>
              <a:rPr spc="90" dirty="0"/>
              <a:t>Overview</a:t>
            </a:r>
          </a:p>
        </p:txBody>
      </p:sp>
      <p:sp>
        <p:nvSpPr>
          <p:cNvPr id="4" name="object 4"/>
          <p:cNvSpPr/>
          <p:nvPr/>
        </p:nvSpPr>
        <p:spPr>
          <a:xfrm>
            <a:off x="657224" y="3619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7224" y="39242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224" y="4238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7224" y="4552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7224" y="4857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7224" y="5172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5" dirty="0"/>
              <a:t>Customer</a:t>
            </a:r>
            <a:r>
              <a:rPr spc="75" dirty="0"/>
              <a:t> </a:t>
            </a:r>
            <a:r>
              <a:rPr spc="70" dirty="0"/>
              <a:t>Experience</a:t>
            </a:r>
          </a:p>
          <a:p>
            <a:pPr marL="12700" marR="5080">
              <a:lnSpc>
                <a:spcPct val="133300"/>
              </a:lnSpc>
              <a:spcBef>
                <a:spcPts val="975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user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interface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is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designed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intuitive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accessible,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allowing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browse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through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extensive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catalogs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60" dirty="0">
                <a:solidFill>
                  <a:srgbClr val="D5E4EF"/>
                </a:solidFill>
                <a:latin typeface="Tahoma"/>
                <a:cs typeface="Tahoma"/>
              </a:rPr>
              <a:t>ease.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The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presents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products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in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visually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appealing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manner,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high- quality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images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detailed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specifications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each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item.</a:t>
            </a:r>
            <a:endParaRPr sz="1250">
              <a:latin typeface="Tahoma"/>
              <a:cs typeface="Tahoma"/>
            </a:endParaRPr>
          </a:p>
          <a:p>
            <a:pPr marL="267335" marR="295910">
              <a:lnSpc>
                <a:spcPct val="160000"/>
              </a:lnSpc>
              <a:spcBef>
                <a:spcPts val="750"/>
              </a:spcBef>
            </a:pP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Browse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collections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organized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by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categories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brands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Search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filter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products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based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on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specific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criteria</a:t>
            </a:r>
            <a:endParaRPr sz="1250">
              <a:latin typeface="Tahoma"/>
              <a:cs typeface="Tahoma"/>
            </a:endParaRPr>
          </a:p>
          <a:p>
            <a:pPr marL="267335" marR="88900">
              <a:lnSpc>
                <a:spcPct val="165000"/>
              </a:lnSpc>
            </a:pP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View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detailed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product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information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including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sizing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rates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Select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periods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that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match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event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schedules</a:t>
            </a:r>
            <a:endParaRPr sz="1250">
              <a:latin typeface="Tahoma"/>
              <a:cs typeface="Tahoma"/>
            </a:endParaRPr>
          </a:p>
          <a:p>
            <a:pPr marL="267335">
              <a:lnSpc>
                <a:spcPct val="100000"/>
              </a:lnSpc>
              <a:spcBef>
                <a:spcPts val="900"/>
              </a:spcBef>
            </a:pP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Complete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secure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checkout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process</a:t>
            </a:r>
            <a:endParaRPr sz="1250">
              <a:latin typeface="Tahoma"/>
              <a:cs typeface="Tahoma"/>
            </a:endParaRPr>
          </a:p>
          <a:p>
            <a:pPr marL="267335">
              <a:lnSpc>
                <a:spcPct val="100000"/>
              </a:lnSpc>
              <a:spcBef>
                <a:spcPts val="975"/>
              </a:spcBef>
            </a:pP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Track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order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status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delivery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information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34073" y="33623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34073" y="3676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34073" y="3981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34073" y="4295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34073" y="4610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34073" y="4914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06194" y="1905444"/>
            <a:ext cx="4811395" cy="3130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50" dirty="0">
                <a:solidFill>
                  <a:srgbClr val="F98AC7"/>
                </a:solidFill>
                <a:latin typeface="Cambria"/>
                <a:cs typeface="Cambria"/>
              </a:rPr>
              <a:t>Administrative</a:t>
            </a:r>
            <a:r>
              <a:rPr sz="1750" spc="80" dirty="0">
                <a:solidFill>
                  <a:srgbClr val="F98AC7"/>
                </a:solidFill>
                <a:latin typeface="Cambria"/>
                <a:cs typeface="Cambria"/>
              </a:rPr>
              <a:t> Control</a:t>
            </a:r>
            <a:endParaRPr sz="1750">
              <a:latin typeface="Cambria"/>
              <a:cs typeface="Cambria"/>
            </a:endParaRPr>
          </a:p>
          <a:p>
            <a:pPr marL="12700" marR="5080">
              <a:lnSpc>
                <a:spcPct val="132500"/>
              </a:lnSpc>
              <a:spcBef>
                <a:spcPts val="990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admin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panel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provides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complete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oversight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all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operations,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ensuring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smooth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functioning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data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integrity.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Administrators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can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manage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every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aspect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from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centralized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dashboard.</a:t>
            </a:r>
            <a:endParaRPr sz="1250">
              <a:latin typeface="Tahoma"/>
              <a:cs typeface="Tahoma"/>
            </a:endParaRPr>
          </a:p>
          <a:p>
            <a:pPr marL="267335" marR="1420495">
              <a:lnSpc>
                <a:spcPct val="163300"/>
              </a:lnSpc>
              <a:spcBef>
                <a:spcPts val="700"/>
              </a:spcBef>
            </a:pP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Full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control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over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product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catalog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inventory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account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order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management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Category,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subcategory,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brand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organization </a:t>
            </a: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Real-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time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availability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tracking</a:t>
            </a:r>
            <a:endParaRPr sz="1250">
              <a:latin typeface="Tahoma"/>
              <a:cs typeface="Tahoma"/>
            </a:endParaRPr>
          </a:p>
          <a:p>
            <a:pPr marL="267335">
              <a:lnSpc>
                <a:spcPct val="100000"/>
              </a:lnSpc>
              <a:spcBef>
                <a:spcPts val="975"/>
              </a:spcBef>
            </a:pP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performance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monitoring</a:t>
            </a:r>
            <a:endParaRPr sz="1250">
              <a:latin typeface="Tahoma"/>
              <a:cs typeface="Tahoma"/>
            </a:endParaRPr>
          </a:p>
          <a:p>
            <a:pPr marL="267335">
              <a:lnSpc>
                <a:spcPct val="100000"/>
              </a:lnSpc>
              <a:spcBef>
                <a:spcPts val="900"/>
              </a:spcBef>
            </a:pP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Data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backup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security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management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620000"/>
          </a:xfrm>
          <a:custGeom>
            <a:avLst/>
            <a:gdLst/>
            <a:ahLst/>
            <a:cxnLst/>
            <a:rect l="l" t="t" r="r" b="b"/>
            <a:pathLst>
              <a:path w="11430000" h="7620000">
                <a:moveTo>
                  <a:pt x="11430000" y="0"/>
                </a:moveTo>
                <a:lnTo>
                  <a:pt x="0" y="0"/>
                </a:lnTo>
                <a:lnTo>
                  <a:pt x="0" y="7620000"/>
                </a:lnTo>
                <a:lnTo>
                  <a:pt x="11430000" y="7620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80" dirty="0">
                <a:solidFill>
                  <a:srgbClr val="F989C7"/>
                </a:solidFill>
              </a:rPr>
              <a:t>Admin</a:t>
            </a:r>
            <a:r>
              <a:rPr spc="140" dirty="0">
                <a:solidFill>
                  <a:srgbClr val="F989C7"/>
                </a:solidFill>
              </a:rPr>
              <a:t> </a:t>
            </a:r>
            <a:r>
              <a:rPr spc="80" dirty="0">
                <a:solidFill>
                  <a:srgbClr val="F989C7"/>
                </a:solidFill>
              </a:rPr>
              <a:t>Panel</a:t>
            </a:r>
            <a:r>
              <a:rPr spc="135" dirty="0">
                <a:solidFill>
                  <a:srgbClr val="F989C7"/>
                </a:solidFill>
              </a:rPr>
              <a:t> </a:t>
            </a:r>
            <a:r>
              <a:rPr spc="114" dirty="0">
                <a:solidFill>
                  <a:srgbClr val="F989C7"/>
                </a:solidFill>
              </a:rPr>
              <a:t>Modules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4866" y="1171695"/>
            <a:ext cx="966660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administrative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dashboard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consists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of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four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interconnected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modules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work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together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create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comprehensive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rental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management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system.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Each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module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serves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specific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purpose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6E5EF"/>
                </a:solidFill>
                <a:latin typeface="Tahoma"/>
                <a:cs typeface="Tahoma"/>
              </a:rPr>
              <a:t>in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organizing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presenting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product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catalog.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1914525"/>
            <a:ext cx="2390775" cy="2390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4879" y="4448047"/>
            <a:ext cx="2350770" cy="26930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0" dirty="0">
                <a:solidFill>
                  <a:srgbClr val="D6E5EF"/>
                </a:solidFill>
                <a:latin typeface="Cambria"/>
                <a:cs typeface="Cambria"/>
              </a:rPr>
              <a:t>Category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4000"/>
              </a:lnSpc>
              <a:spcBef>
                <a:spcPts val="425"/>
              </a:spcBef>
            </a:pP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Establishes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main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classification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hierarchy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for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6E5EF"/>
                </a:solidFill>
                <a:latin typeface="Tahoma"/>
                <a:cs typeface="Tahoma"/>
              </a:rPr>
              <a:t>all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items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in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system.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Categories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provide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the top-level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organization</a:t>
            </a:r>
            <a:r>
              <a:rPr sz="1250" spc="-6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structure,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making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6E5EF"/>
                </a:solidFill>
                <a:latin typeface="Tahoma"/>
                <a:cs typeface="Tahoma"/>
              </a:rPr>
              <a:t>it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easy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for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users</a:t>
            </a:r>
            <a:r>
              <a:rPr sz="1250" spc="-12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navigate to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their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desired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type.</a:t>
            </a:r>
            <a:endParaRPr sz="1250">
              <a:latin typeface="Tahoma"/>
              <a:cs typeface="Tahoma"/>
            </a:endParaRPr>
          </a:p>
          <a:p>
            <a:pPr marL="12700" marR="426720">
              <a:lnSpc>
                <a:spcPct val="132500"/>
              </a:lnSpc>
              <a:spcBef>
                <a:spcPts val="785"/>
              </a:spcBef>
            </a:pPr>
            <a:r>
              <a:rPr sz="1250" b="1" spc="-45" dirty="0">
                <a:solidFill>
                  <a:srgbClr val="D6E5EF"/>
                </a:solidFill>
                <a:latin typeface="Trebuchet MS"/>
                <a:cs typeface="Trebuchet MS"/>
              </a:rPr>
              <a:t>Examples:</a:t>
            </a:r>
            <a:r>
              <a:rPr sz="1250" b="1" spc="-90" dirty="0">
                <a:solidFill>
                  <a:srgbClr val="D6E5EF"/>
                </a:solidFill>
                <a:latin typeface="Trebuchet MS"/>
                <a:cs typeface="Trebuchet MS"/>
              </a:rPr>
              <a:t> </a:t>
            </a: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Men,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Women,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Traditional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Wear,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Party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60" dirty="0">
                <a:solidFill>
                  <a:srgbClr val="D6E5EF"/>
                </a:solidFill>
                <a:latin typeface="Tahoma"/>
                <a:cs typeface="Tahoma"/>
              </a:rPr>
              <a:t>Wear,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Formal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Attire,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Casual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Wear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8975" y="1914525"/>
            <a:ext cx="2390775" cy="2390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13303" y="4448047"/>
            <a:ext cx="2355215" cy="2445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80" dirty="0">
                <a:solidFill>
                  <a:srgbClr val="D6E5EF"/>
                </a:solidFill>
                <a:latin typeface="Cambria"/>
                <a:cs typeface="Cambria"/>
              </a:rPr>
              <a:t>Sub</a:t>
            </a:r>
            <a:r>
              <a:rPr sz="1450" spc="65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D6E5EF"/>
                </a:solidFill>
                <a:latin typeface="Cambria"/>
                <a:cs typeface="Cambria"/>
              </a:rPr>
              <a:t>Category</a:t>
            </a:r>
            <a:endParaRPr sz="1450">
              <a:latin typeface="Cambria"/>
              <a:cs typeface="Cambria"/>
            </a:endParaRPr>
          </a:p>
          <a:p>
            <a:pPr marL="12700" marR="176530">
              <a:lnSpc>
                <a:spcPct val="133800"/>
              </a:lnSpc>
              <a:spcBef>
                <a:spcPts val="425"/>
              </a:spcBef>
            </a:pP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Creates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subdivisions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within</a:t>
            </a:r>
            <a:r>
              <a:rPr sz="1250" spc="-7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each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main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category,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providing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more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specific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classifications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help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users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narrow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their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search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results efficiently.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750"/>
              </a:spcBef>
            </a:pPr>
            <a:r>
              <a:rPr sz="1250" b="1" spc="-45" dirty="0">
                <a:solidFill>
                  <a:srgbClr val="D6E5EF"/>
                </a:solidFill>
                <a:latin typeface="Trebuchet MS"/>
                <a:cs typeface="Trebuchet MS"/>
              </a:rPr>
              <a:t>Examples:</a:t>
            </a:r>
            <a:r>
              <a:rPr sz="1250" b="1" spc="-70" dirty="0">
                <a:solidFill>
                  <a:srgbClr val="D6E5EF"/>
                </a:solidFill>
                <a:latin typeface="Trebuchet MS"/>
                <a:cs typeface="Trebuchet MS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Shirts,</a:t>
            </a:r>
            <a:r>
              <a:rPr sz="1250" spc="-7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Jackets,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Dresses, Sherwani,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Kurtas,</a:t>
            </a:r>
            <a:r>
              <a:rPr sz="1250" spc="-7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Trousers,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Jeans, Skirts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0" y="1914525"/>
            <a:ext cx="2390775" cy="23907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01867" y="4448047"/>
            <a:ext cx="2388235" cy="21882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D6E5EF"/>
                </a:solidFill>
                <a:latin typeface="Cambria"/>
                <a:cs typeface="Cambria"/>
              </a:rPr>
              <a:t>Brand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Maintains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comprehensive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list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of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brands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available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for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rental, allowing</a:t>
            </a:r>
            <a:r>
              <a:rPr sz="1250" spc="-114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users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14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specifically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search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for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their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preferred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designer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labels.</a:t>
            </a:r>
            <a:endParaRPr sz="1250">
              <a:latin typeface="Tahoma"/>
              <a:cs typeface="Tahoma"/>
            </a:endParaRPr>
          </a:p>
          <a:p>
            <a:pPr marL="12700" marR="184150">
              <a:lnSpc>
                <a:spcPct val="135000"/>
              </a:lnSpc>
              <a:spcBef>
                <a:spcPts val="675"/>
              </a:spcBef>
            </a:pPr>
            <a:r>
              <a:rPr sz="1250" b="1" spc="-45" dirty="0">
                <a:solidFill>
                  <a:srgbClr val="D6E5EF"/>
                </a:solidFill>
                <a:latin typeface="Trebuchet MS"/>
                <a:cs typeface="Trebuchet MS"/>
              </a:rPr>
              <a:t>Examples:</a:t>
            </a:r>
            <a:r>
              <a:rPr sz="1250" b="1" spc="-90" dirty="0">
                <a:solidFill>
                  <a:srgbClr val="D6E5EF"/>
                </a:solidFill>
                <a:latin typeface="Trebuchet MS"/>
                <a:cs typeface="Trebuchet MS"/>
              </a:rPr>
              <a:t>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Zara,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70" dirty="0">
                <a:solidFill>
                  <a:srgbClr val="D6E5EF"/>
                </a:solidFill>
                <a:latin typeface="Tahoma"/>
                <a:cs typeface="Tahoma"/>
              </a:rPr>
              <a:t>H&amp;M,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Raymond,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Louis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Philippe,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Armani,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Gucci, Versace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01050" y="1914525"/>
            <a:ext cx="2390775" cy="23907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390280" y="4448047"/>
            <a:ext cx="2338070" cy="1835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65" dirty="0">
                <a:solidFill>
                  <a:srgbClr val="D6E5EF"/>
                </a:solidFill>
                <a:latin typeface="Cambria"/>
                <a:cs typeface="Cambria"/>
              </a:rPr>
              <a:t>Product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4000"/>
              </a:lnSpc>
              <a:spcBef>
                <a:spcPts val="425"/>
              </a:spcBef>
            </a:pP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Represents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individual</a:t>
            </a:r>
            <a:r>
              <a:rPr sz="1250" spc="-6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clothing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items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available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for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rent,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containing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complete</a:t>
            </a:r>
            <a:r>
              <a:rPr sz="1250" spc="-114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details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including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product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name,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images,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available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sizes,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rental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pricing,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brand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association,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14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current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availability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status.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391400"/>
          </a:xfrm>
          <a:custGeom>
            <a:avLst/>
            <a:gdLst/>
            <a:ahLst/>
            <a:cxnLst/>
            <a:rect l="l" t="t" r="r" b="b"/>
            <a:pathLst>
              <a:path w="11430000" h="7391400">
                <a:moveTo>
                  <a:pt x="11430000" y="0"/>
                </a:moveTo>
                <a:lnTo>
                  <a:pt x="0" y="0"/>
                </a:lnTo>
                <a:lnTo>
                  <a:pt x="0" y="7391400"/>
                </a:lnTo>
                <a:lnTo>
                  <a:pt x="11430000" y="7391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8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F989C7"/>
                </a:solidFill>
              </a:rPr>
              <a:t>Key</a:t>
            </a:r>
            <a:r>
              <a:rPr spc="125" dirty="0">
                <a:solidFill>
                  <a:srgbClr val="F989C7"/>
                </a:solidFill>
              </a:rPr>
              <a:t> </a:t>
            </a:r>
            <a:r>
              <a:rPr spc="75" dirty="0">
                <a:solidFill>
                  <a:srgbClr val="F989C7"/>
                </a:solidFill>
              </a:rPr>
              <a:t>Features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351" y="1232550"/>
            <a:ext cx="416238" cy="3818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4879" y="1809623"/>
            <a:ext cx="487616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100" dirty="0">
                <a:solidFill>
                  <a:srgbClr val="D6E5EF"/>
                </a:solidFill>
                <a:latin typeface="Cambria"/>
                <a:cs typeface="Cambria"/>
              </a:rPr>
              <a:t>User-</a:t>
            </a:r>
            <a:r>
              <a:rPr sz="1450" dirty="0">
                <a:solidFill>
                  <a:srgbClr val="D6E5EF"/>
                </a:solidFill>
                <a:latin typeface="Cambria"/>
                <a:cs typeface="Cambria"/>
              </a:rPr>
              <a:t>Friendly</a:t>
            </a:r>
            <a:r>
              <a:rPr sz="1450" spc="409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50" dirty="0">
                <a:solidFill>
                  <a:srgbClr val="D6E5EF"/>
                </a:solidFill>
                <a:latin typeface="Cambria"/>
                <a:cs typeface="Cambria"/>
              </a:rPr>
              <a:t>Interface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2500"/>
              </a:lnSpc>
              <a:spcBef>
                <a:spcPts val="520"/>
              </a:spcBef>
            </a:pP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Intuitive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design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requires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minimal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learning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curve,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ensuring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customers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of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6E5EF"/>
                </a:solidFill>
                <a:latin typeface="Tahoma"/>
                <a:cs typeface="Tahoma"/>
              </a:rPr>
              <a:t>all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technical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6E5EF"/>
                </a:solidFill>
                <a:latin typeface="Tahoma"/>
                <a:cs typeface="Tahoma"/>
              </a:rPr>
              <a:t>skill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levels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can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navigate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the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platform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effortlessly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find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what</a:t>
            </a:r>
            <a:r>
              <a:rPr sz="1250" spc="-12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they</a:t>
            </a:r>
            <a:r>
              <a:rPr sz="1250" spc="-114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need</a:t>
            </a:r>
            <a:r>
              <a:rPr sz="1250" spc="-114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quickly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01426" y="1239739"/>
            <a:ext cx="416559" cy="376555"/>
            <a:chOff x="5801426" y="1239739"/>
            <a:chExt cx="416559" cy="376555"/>
          </a:xfrm>
        </p:grpSpPr>
        <p:sp>
          <p:nvSpPr>
            <p:cNvPr id="7" name="object 7"/>
            <p:cNvSpPr/>
            <p:nvPr/>
          </p:nvSpPr>
          <p:spPr>
            <a:xfrm>
              <a:off x="5810250" y="1248562"/>
              <a:ext cx="398780" cy="309880"/>
            </a:xfrm>
            <a:custGeom>
              <a:avLst/>
              <a:gdLst/>
              <a:ahLst/>
              <a:cxnLst/>
              <a:rect l="l" t="t" r="r" b="b"/>
              <a:pathLst>
                <a:path w="398779" h="309880">
                  <a:moveTo>
                    <a:pt x="239242" y="164299"/>
                  </a:moveTo>
                  <a:lnTo>
                    <a:pt x="231571" y="183807"/>
                  </a:lnTo>
                  <a:lnTo>
                    <a:pt x="231394" y="195465"/>
                  </a:lnTo>
                </a:path>
                <a:path w="398779" h="309880">
                  <a:moveTo>
                    <a:pt x="230416" y="305168"/>
                  </a:moveTo>
                  <a:lnTo>
                    <a:pt x="230352" y="309651"/>
                  </a:lnTo>
                </a:path>
                <a:path w="398779" h="309880">
                  <a:moveTo>
                    <a:pt x="398411" y="965"/>
                  </a:moveTo>
                  <a:lnTo>
                    <a:pt x="0" y="0"/>
                  </a:lnTo>
                </a:path>
              </a:pathLst>
            </a:custGeom>
            <a:ln w="176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1426" y="1239739"/>
              <a:ext cx="416057" cy="37638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801867" y="1809623"/>
            <a:ext cx="492252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5" dirty="0">
                <a:solidFill>
                  <a:srgbClr val="D6E5EF"/>
                </a:solidFill>
                <a:latin typeface="Cambria"/>
                <a:cs typeface="Cambria"/>
              </a:rPr>
              <a:t>Product</a:t>
            </a:r>
            <a:r>
              <a:rPr sz="1450" spc="70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35" dirty="0">
                <a:solidFill>
                  <a:srgbClr val="D6E5EF"/>
                </a:solidFill>
                <a:latin typeface="Cambria"/>
                <a:cs typeface="Cambria"/>
              </a:rPr>
              <a:t>Filtering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2500"/>
              </a:lnSpc>
              <a:spcBef>
                <a:spcPts val="520"/>
              </a:spcBef>
            </a:pP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Advanced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filtering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capabilities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allow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users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to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narrow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search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results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by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category,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brand,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size,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price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D6E5EF"/>
                </a:solidFill>
                <a:latin typeface="Tahoma"/>
                <a:cs typeface="Tahoma"/>
              </a:rPr>
              <a:t>range,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availability,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saving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time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and improving</a:t>
            </a:r>
            <a:r>
              <a:rPr sz="1250" spc="-8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discovery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488" y="3239052"/>
            <a:ext cx="415760" cy="41612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24879" y="3819397"/>
            <a:ext cx="4741545" cy="826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5" dirty="0">
                <a:solidFill>
                  <a:srgbClr val="D6E5EF"/>
                </a:solidFill>
                <a:latin typeface="Cambria"/>
                <a:cs typeface="Cambria"/>
              </a:rPr>
              <a:t>Organized</a:t>
            </a:r>
            <a:r>
              <a:rPr sz="1450" spc="70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D6E5EF"/>
                </a:solidFill>
                <a:latin typeface="Cambria"/>
                <a:cs typeface="Cambria"/>
              </a:rPr>
              <a:t>Catalog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Well-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structured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product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organization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presents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6E5EF"/>
                </a:solidFill>
                <a:latin typeface="Tahoma"/>
                <a:cs typeface="Tahoma"/>
              </a:rPr>
              <a:t>in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</a:t>
            </a:r>
            <a:r>
              <a:rPr sz="1250" spc="-8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logical,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visually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appealing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manner,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making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browsing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enjoyable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productive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0250" y="3276472"/>
            <a:ext cx="398780" cy="341630"/>
          </a:xfrm>
          <a:custGeom>
            <a:avLst/>
            <a:gdLst/>
            <a:ahLst/>
            <a:cxnLst/>
            <a:rect l="l" t="t" r="r" b="b"/>
            <a:pathLst>
              <a:path w="398779" h="341629">
                <a:moveTo>
                  <a:pt x="200787" y="139280"/>
                </a:moveTo>
                <a:lnTo>
                  <a:pt x="170548" y="170599"/>
                </a:lnTo>
                <a:lnTo>
                  <a:pt x="156705" y="173101"/>
                </a:lnTo>
                <a:lnTo>
                  <a:pt x="149161" y="172504"/>
                </a:lnTo>
                <a:lnTo>
                  <a:pt x="115912" y="149669"/>
                </a:lnTo>
                <a:lnTo>
                  <a:pt x="110083" y="139382"/>
                </a:lnTo>
              </a:path>
              <a:path w="398779" h="341629">
                <a:moveTo>
                  <a:pt x="291439" y="139852"/>
                </a:moveTo>
                <a:lnTo>
                  <a:pt x="265988" y="168275"/>
                </a:lnTo>
                <a:lnTo>
                  <a:pt x="246151" y="172961"/>
                </a:lnTo>
                <a:lnTo>
                  <a:pt x="239509" y="172478"/>
                </a:lnTo>
                <a:lnTo>
                  <a:pt x="206349" y="149186"/>
                </a:lnTo>
                <a:lnTo>
                  <a:pt x="200787" y="139280"/>
                </a:lnTo>
              </a:path>
              <a:path w="398779" h="341629">
                <a:moveTo>
                  <a:pt x="374586" y="157060"/>
                </a:moveTo>
                <a:lnTo>
                  <a:pt x="341198" y="173164"/>
                </a:lnTo>
                <a:lnTo>
                  <a:pt x="335775" y="173164"/>
                </a:lnTo>
                <a:lnTo>
                  <a:pt x="301713" y="155321"/>
                </a:lnTo>
                <a:lnTo>
                  <a:pt x="297713" y="149529"/>
                </a:lnTo>
                <a:lnTo>
                  <a:pt x="291947" y="140652"/>
                </a:lnTo>
              </a:path>
              <a:path w="398779" h="341629">
                <a:moveTo>
                  <a:pt x="110083" y="139382"/>
                </a:moveTo>
                <a:lnTo>
                  <a:pt x="83413" y="168541"/>
                </a:lnTo>
                <a:lnTo>
                  <a:pt x="60452" y="173126"/>
                </a:lnTo>
                <a:lnTo>
                  <a:pt x="55219" y="172478"/>
                </a:lnTo>
                <a:lnTo>
                  <a:pt x="49263" y="170891"/>
                </a:lnTo>
                <a:lnTo>
                  <a:pt x="43751" y="168656"/>
                </a:lnTo>
                <a:lnTo>
                  <a:pt x="41389" y="167360"/>
                </a:lnTo>
                <a:lnTo>
                  <a:pt x="35699" y="163398"/>
                </a:lnTo>
                <a:lnTo>
                  <a:pt x="26670" y="156756"/>
                </a:lnTo>
              </a:path>
              <a:path w="398779" h="341629">
                <a:moveTo>
                  <a:pt x="382765" y="107238"/>
                </a:moveTo>
                <a:lnTo>
                  <a:pt x="379895" y="145440"/>
                </a:lnTo>
                <a:lnTo>
                  <a:pt x="378409" y="148894"/>
                </a:lnTo>
                <a:lnTo>
                  <a:pt x="376555" y="152895"/>
                </a:lnTo>
              </a:path>
              <a:path w="398779" h="341629">
                <a:moveTo>
                  <a:pt x="398411" y="106667"/>
                </a:moveTo>
                <a:lnTo>
                  <a:pt x="397000" y="101646"/>
                </a:lnTo>
                <a:lnTo>
                  <a:pt x="394177" y="95199"/>
                </a:lnTo>
                <a:lnTo>
                  <a:pt x="388319" y="84246"/>
                </a:lnTo>
                <a:lnTo>
                  <a:pt x="377799" y="65709"/>
                </a:lnTo>
              </a:path>
              <a:path w="398779" h="341629">
                <a:moveTo>
                  <a:pt x="344144" y="7493"/>
                </a:moveTo>
                <a:lnTo>
                  <a:pt x="324013" y="76"/>
                </a:lnTo>
                <a:lnTo>
                  <a:pt x="311696" y="0"/>
                </a:lnTo>
              </a:path>
              <a:path w="398779" h="341629">
                <a:moveTo>
                  <a:pt x="66865" y="63"/>
                </a:moveTo>
                <a:lnTo>
                  <a:pt x="30216" y="52838"/>
                </a:lnTo>
                <a:lnTo>
                  <a:pt x="11386" y="85813"/>
                </a:lnTo>
                <a:lnTo>
                  <a:pt x="0" y="106603"/>
                </a:lnTo>
              </a:path>
              <a:path w="398779" h="341629">
                <a:moveTo>
                  <a:pt x="376656" y="318262"/>
                </a:moveTo>
                <a:lnTo>
                  <a:pt x="353568" y="341350"/>
                </a:lnTo>
                <a:lnTo>
                  <a:pt x="347586" y="341414"/>
                </a:lnTo>
              </a:path>
              <a:path w="398779" h="341629">
                <a:moveTo>
                  <a:pt x="376555" y="155486"/>
                </a:moveTo>
                <a:lnTo>
                  <a:pt x="376656" y="318262"/>
                </a:lnTo>
              </a:path>
              <a:path w="398779" h="341629">
                <a:moveTo>
                  <a:pt x="251777" y="213385"/>
                </a:moveTo>
                <a:lnTo>
                  <a:pt x="251815" y="341388"/>
                </a:lnTo>
              </a:path>
              <a:path w="398779" h="341629">
                <a:moveTo>
                  <a:pt x="398411" y="106667"/>
                </a:moveTo>
                <a:lnTo>
                  <a:pt x="0" y="106603"/>
                </a:lnTo>
              </a:path>
              <a:path w="398779" h="341629">
                <a:moveTo>
                  <a:pt x="291896" y="139052"/>
                </a:moveTo>
                <a:lnTo>
                  <a:pt x="291782" y="107200"/>
                </a:lnTo>
              </a:path>
              <a:path w="398779" h="341629">
                <a:moveTo>
                  <a:pt x="200609" y="107213"/>
                </a:moveTo>
                <a:lnTo>
                  <a:pt x="200787" y="139280"/>
                </a:lnTo>
              </a:path>
              <a:path w="398779" h="341629">
                <a:moveTo>
                  <a:pt x="109994" y="107213"/>
                </a:moveTo>
                <a:lnTo>
                  <a:pt x="110083" y="139382"/>
                </a:lnTo>
              </a:path>
              <a:path w="398779" h="341629">
                <a:moveTo>
                  <a:pt x="24676" y="151663"/>
                </a:moveTo>
                <a:lnTo>
                  <a:pt x="19342" y="107238"/>
                </a:lnTo>
              </a:path>
              <a:path w="398779" h="341629">
                <a:moveTo>
                  <a:pt x="377799" y="65709"/>
                </a:moveTo>
                <a:lnTo>
                  <a:pt x="344144" y="7493"/>
                </a:lnTo>
              </a:path>
              <a:path w="398779" h="341629">
                <a:moveTo>
                  <a:pt x="311696" y="0"/>
                </a:moveTo>
                <a:lnTo>
                  <a:pt x="66865" y="63"/>
                </a:lnTo>
              </a:path>
              <a:path w="398779" h="341629">
                <a:moveTo>
                  <a:pt x="188214" y="208038"/>
                </a:moveTo>
                <a:lnTo>
                  <a:pt x="77292" y="208508"/>
                </a:lnTo>
              </a:path>
              <a:path w="398779" h="341629">
                <a:moveTo>
                  <a:pt x="188214" y="208038"/>
                </a:moveTo>
                <a:lnTo>
                  <a:pt x="188125" y="283972"/>
                </a:lnTo>
              </a:path>
              <a:path w="398779" h="341629">
                <a:moveTo>
                  <a:pt x="188125" y="283972"/>
                </a:moveTo>
                <a:lnTo>
                  <a:pt x="77406" y="284200"/>
                </a:lnTo>
              </a:path>
              <a:path w="398779" h="341629">
                <a:moveTo>
                  <a:pt x="77406" y="284200"/>
                </a:moveTo>
                <a:lnTo>
                  <a:pt x="77292" y="208508"/>
                </a:lnTo>
              </a:path>
              <a:path w="398779" h="341629">
                <a:moveTo>
                  <a:pt x="347586" y="341414"/>
                </a:moveTo>
                <a:lnTo>
                  <a:pt x="47421" y="341426"/>
                </a:lnTo>
              </a:path>
              <a:path w="398779" h="341629">
                <a:moveTo>
                  <a:pt x="47421" y="341388"/>
                </a:moveTo>
                <a:lnTo>
                  <a:pt x="45720" y="341579"/>
                </a:lnTo>
                <a:lnTo>
                  <a:pt x="44030" y="341553"/>
                </a:lnTo>
                <a:lnTo>
                  <a:pt x="42329" y="341312"/>
                </a:lnTo>
                <a:lnTo>
                  <a:pt x="40640" y="341071"/>
                </a:lnTo>
                <a:lnTo>
                  <a:pt x="39001" y="340639"/>
                </a:lnTo>
                <a:lnTo>
                  <a:pt x="37414" y="339991"/>
                </a:lnTo>
                <a:lnTo>
                  <a:pt x="35826" y="339356"/>
                </a:lnTo>
                <a:lnTo>
                  <a:pt x="29260" y="334048"/>
                </a:lnTo>
                <a:lnTo>
                  <a:pt x="28155" y="332727"/>
                </a:lnTo>
                <a:lnTo>
                  <a:pt x="24371" y="321576"/>
                </a:lnTo>
                <a:lnTo>
                  <a:pt x="24447" y="319874"/>
                </a:lnTo>
                <a:lnTo>
                  <a:pt x="24511" y="318173"/>
                </a:lnTo>
                <a:lnTo>
                  <a:pt x="24790" y="316496"/>
                </a:lnTo>
                <a:lnTo>
                  <a:pt x="25273" y="314858"/>
                </a:lnTo>
              </a:path>
              <a:path w="398779" h="341629">
                <a:moveTo>
                  <a:pt x="24701" y="314680"/>
                </a:moveTo>
                <a:lnTo>
                  <a:pt x="24676" y="155270"/>
                </a:lnTo>
              </a:path>
            </a:pathLst>
          </a:custGeom>
          <a:ln w="176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01867" y="3819397"/>
            <a:ext cx="492061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50" dirty="0">
                <a:solidFill>
                  <a:srgbClr val="D6E5EF"/>
                </a:solidFill>
                <a:latin typeface="Cambria"/>
                <a:cs typeface="Cambria"/>
              </a:rPr>
              <a:t>Easy</a:t>
            </a:r>
            <a:r>
              <a:rPr sz="1450" spc="75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35" dirty="0">
                <a:solidFill>
                  <a:srgbClr val="D6E5EF"/>
                </a:solidFill>
                <a:latin typeface="Cambria"/>
                <a:cs typeface="Cambria"/>
              </a:rPr>
              <a:t>Browsing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2500"/>
              </a:lnSpc>
              <a:spcBef>
                <a:spcPts val="520"/>
              </a:spcBef>
            </a:pP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Seamless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navigation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through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collections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with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quick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view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options,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image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galleries,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detailed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product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6E5EF"/>
                </a:solidFill>
                <a:latin typeface="Tahoma"/>
                <a:cs typeface="Tahoma"/>
              </a:rPr>
              <a:t>pages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provide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comprehensive information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6463" y="5248976"/>
            <a:ext cx="361950" cy="416559"/>
            <a:chOff x="656463" y="5248976"/>
            <a:chExt cx="361950" cy="416559"/>
          </a:xfrm>
        </p:grpSpPr>
        <p:sp>
          <p:nvSpPr>
            <p:cNvPr id="15" name="object 15"/>
            <p:cNvSpPr/>
            <p:nvPr/>
          </p:nvSpPr>
          <p:spPr>
            <a:xfrm>
              <a:off x="665286" y="5629846"/>
              <a:ext cx="344805" cy="26670"/>
            </a:xfrm>
            <a:custGeom>
              <a:avLst/>
              <a:gdLst/>
              <a:ahLst/>
              <a:cxnLst/>
              <a:rect l="l" t="t" r="r" b="b"/>
              <a:pathLst>
                <a:path w="344805" h="26670">
                  <a:moveTo>
                    <a:pt x="0" y="25933"/>
                  </a:moveTo>
                  <a:lnTo>
                    <a:pt x="30826" y="292"/>
                  </a:lnTo>
                  <a:lnTo>
                    <a:pt x="60666" y="25"/>
                  </a:lnTo>
                  <a:lnTo>
                    <a:pt x="65201" y="584"/>
                  </a:lnTo>
                  <a:lnTo>
                    <a:pt x="87882" y="20104"/>
                  </a:lnTo>
                  <a:lnTo>
                    <a:pt x="88905" y="25247"/>
                  </a:lnTo>
                </a:path>
                <a:path w="344805" h="26670">
                  <a:moveTo>
                    <a:pt x="127455" y="26365"/>
                  </a:moveTo>
                  <a:lnTo>
                    <a:pt x="158834" y="261"/>
                  </a:lnTo>
                  <a:lnTo>
                    <a:pt x="170910" y="91"/>
                  </a:lnTo>
                  <a:lnTo>
                    <a:pt x="190375" y="127"/>
                  </a:lnTo>
                  <a:lnTo>
                    <a:pt x="216366" y="22186"/>
                  </a:lnTo>
                  <a:lnTo>
                    <a:pt x="216921" y="25755"/>
                  </a:lnTo>
                </a:path>
                <a:path w="344805" h="26670">
                  <a:moveTo>
                    <a:pt x="254758" y="25844"/>
                  </a:moveTo>
                  <a:lnTo>
                    <a:pt x="278546" y="558"/>
                  </a:lnTo>
                  <a:lnTo>
                    <a:pt x="282202" y="0"/>
                  </a:lnTo>
                </a:path>
                <a:path w="344805" h="26670">
                  <a:moveTo>
                    <a:pt x="317167" y="12"/>
                  </a:moveTo>
                  <a:lnTo>
                    <a:pt x="343465" y="21564"/>
                  </a:lnTo>
                  <a:lnTo>
                    <a:pt x="344189" y="25311"/>
                  </a:lnTo>
                </a:path>
              </a:pathLst>
            </a:custGeom>
            <a:ln w="176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680" y="5248976"/>
              <a:ext cx="186498" cy="2958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9448" y="5515178"/>
              <a:ext cx="273050" cy="114935"/>
            </a:xfrm>
            <a:custGeom>
              <a:avLst/>
              <a:gdLst/>
              <a:ahLst/>
              <a:cxnLst/>
              <a:rect l="l" t="t" r="r" b="b"/>
              <a:pathLst>
                <a:path w="273050" h="114935">
                  <a:moveTo>
                    <a:pt x="255964" y="0"/>
                  </a:moveTo>
                  <a:lnTo>
                    <a:pt x="34" y="63"/>
                  </a:lnTo>
                </a:path>
                <a:path w="273050" h="114935">
                  <a:moveTo>
                    <a:pt x="0" y="20955"/>
                  </a:moveTo>
                  <a:lnTo>
                    <a:pt x="34" y="63"/>
                  </a:lnTo>
                </a:path>
                <a:path w="273050" h="114935">
                  <a:moveTo>
                    <a:pt x="255766" y="20955"/>
                  </a:moveTo>
                  <a:lnTo>
                    <a:pt x="255964" y="0"/>
                  </a:lnTo>
                </a:path>
                <a:path w="273050" h="114935">
                  <a:moveTo>
                    <a:pt x="238041" y="114668"/>
                  </a:moveTo>
                  <a:lnTo>
                    <a:pt x="273005" y="114681"/>
                  </a:lnTo>
                </a:path>
              </a:pathLst>
            </a:custGeom>
            <a:ln w="176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228" y="5549585"/>
              <a:ext cx="72956" cy="7295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2128" y="5365902"/>
              <a:ext cx="311150" cy="248285"/>
            </a:xfrm>
            <a:custGeom>
              <a:avLst/>
              <a:gdLst/>
              <a:ahLst/>
              <a:cxnLst/>
              <a:rect l="l" t="t" r="r" b="b"/>
              <a:pathLst>
                <a:path w="311150" h="248285">
                  <a:moveTo>
                    <a:pt x="310619" y="220103"/>
                  </a:moveTo>
                  <a:lnTo>
                    <a:pt x="310619" y="223774"/>
                  </a:lnTo>
                  <a:lnTo>
                    <a:pt x="309920" y="227304"/>
                  </a:lnTo>
                  <a:lnTo>
                    <a:pt x="286613" y="247777"/>
                  </a:lnTo>
                  <a:lnTo>
                    <a:pt x="282942" y="247777"/>
                  </a:lnTo>
                  <a:lnTo>
                    <a:pt x="279271" y="247777"/>
                  </a:lnTo>
                  <a:lnTo>
                    <a:pt x="257369" y="230695"/>
                  </a:lnTo>
                  <a:lnTo>
                    <a:pt x="255964" y="227304"/>
                  </a:lnTo>
                  <a:lnTo>
                    <a:pt x="255261" y="223774"/>
                  </a:lnTo>
                  <a:lnTo>
                    <a:pt x="255261" y="220103"/>
                  </a:lnTo>
                  <a:lnTo>
                    <a:pt x="255261" y="216433"/>
                  </a:lnTo>
                  <a:lnTo>
                    <a:pt x="255964" y="212902"/>
                  </a:lnTo>
                  <a:lnTo>
                    <a:pt x="257369" y="209511"/>
                  </a:lnTo>
                  <a:lnTo>
                    <a:pt x="258772" y="206121"/>
                  </a:lnTo>
                  <a:lnTo>
                    <a:pt x="260771" y="203123"/>
                  </a:lnTo>
                  <a:lnTo>
                    <a:pt x="263366" y="200533"/>
                  </a:lnTo>
                  <a:lnTo>
                    <a:pt x="265965" y="197929"/>
                  </a:lnTo>
                  <a:lnTo>
                    <a:pt x="268958" y="195935"/>
                  </a:lnTo>
                  <a:lnTo>
                    <a:pt x="272351" y="194525"/>
                  </a:lnTo>
                  <a:lnTo>
                    <a:pt x="275739" y="193128"/>
                  </a:lnTo>
                  <a:lnTo>
                    <a:pt x="279271" y="192417"/>
                  </a:lnTo>
                  <a:lnTo>
                    <a:pt x="282942" y="192417"/>
                  </a:lnTo>
                  <a:lnTo>
                    <a:pt x="286613" y="192417"/>
                  </a:lnTo>
                  <a:lnTo>
                    <a:pt x="302514" y="200533"/>
                  </a:lnTo>
                  <a:lnTo>
                    <a:pt x="305108" y="203123"/>
                  </a:lnTo>
                  <a:lnTo>
                    <a:pt x="307107" y="206121"/>
                  </a:lnTo>
                  <a:lnTo>
                    <a:pt x="308516" y="209511"/>
                  </a:lnTo>
                  <a:lnTo>
                    <a:pt x="309920" y="212902"/>
                  </a:lnTo>
                  <a:lnTo>
                    <a:pt x="310619" y="216433"/>
                  </a:lnTo>
                  <a:lnTo>
                    <a:pt x="310619" y="220103"/>
                  </a:lnTo>
                  <a:close/>
                </a:path>
                <a:path w="311150" h="248285">
                  <a:moveTo>
                    <a:pt x="300921" y="241134"/>
                  </a:moveTo>
                  <a:lnTo>
                    <a:pt x="302920" y="239649"/>
                  </a:lnTo>
                </a:path>
                <a:path w="311150" h="248285">
                  <a:moveTo>
                    <a:pt x="55458" y="220268"/>
                  </a:moveTo>
                  <a:lnTo>
                    <a:pt x="55458" y="223939"/>
                  </a:lnTo>
                  <a:lnTo>
                    <a:pt x="54754" y="227482"/>
                  </a:lnTo>
                  <a:lnTo>
                    <a:pt x="53350" y="230873"/>
                  </a:lnTo>
                  <a:lnTo>
                    <a:pt x="51941" y="234276"/>
                  </a:lnTo>
                  <a:lnTo>
                    <a:pt x="31408" y="247992"/>
                  </a:lnTo>
                  <a:lnTo>
                    <a:pt x="27731" y="247992"/>
                  </a:lnTo>
                  <a:lnTo>
                    <a:pt x="24051" y="247992"/>
                  </a:lnTo>
                  <a:lnTo>
                    <a:pt x="2109" y="230873"/>
                  </a:lnTo>
                  <a:lnTo>
                    <a:pt x="704" y="227482"/>
                  </a:lnTo>
                  <a:lnTo>
                    <a:pt x="0" y="223939"/>
                  </a:lnTo>
                  <a:lnTo>
                    <a:pt x="0" y="220268"/>
                  </a:lnTo>
                  <a:lnTo>
                    <a:pt x="0" y="216585"/>
                  </a:lnTo>
                  <a:lnTo>
                    <a:pt x="8121" y="200660"/>
                  </a:lnTo>
                  <a:lnTo>
                    <a:pt x="10721" y="198056"/>
                  </a:lnTo>
                  <a:lnTo>
                    <a:pt x="13722" y="196049"/>
                  </a:lnTo>
                  <a:lnTo>
                    <a:pt x="17115" y="194640"/>
                  </a:lnTo>
                  <a:lnTo>
                    <a:pt x="20514" y="193243"/>
                  </a:lnTo>
                  <a:lnTo>
                    <a:pt x="24051" y="192532"/>
                  </a:lnTo>
                  <a:lnTo>
                    <a:pt x="27731" y="192532"/>
                  </a:lnTo>
                  <a:lnTo>
                    <a:pt x="31408" y="192532"/>
                  </a:lnTo>
                  <a:lnTo>
                    <a:pt x="47337" y="200660"/>
                  </a:lnTo>
                  <a:lnTo>
                    <a:pt x="49937" y="203250"/>
                  </a:lnTo>
                  <a:lnTo>
                    <a:pt x="51941" y="206260"/>
                  </a:lnTo>
                  <a:lnTo>
                    <a:pt x="53350" y="209651"/>
                  </a:lnTo>
                  <a:lnTo>
                    <a:pt x="54754" y="213042"/>
                  </a:lnTo>
                  <a:lnTo>
                    <a:pt x="55458" y="216585"/>
                  </a:lnTo>
                  <a:lnTo>
                    <a:pt x="55458" y="220268"/>
                  </a:lnTo>
                  <a:close/>
                </a:path>
                <a:path w="311150" h="248285">
                  <a:moveTo>
                    <a:pt x="46092" y="240817"/>
                  </a:moveTo>
                  <a:lnTo>
                    <a:pt x="48032" y="239242"/>
                  </a:lnTo>
                </a:path>
                <a:path w="311150" h="248285">
                  <a:moveTo>
                    <a:pt x="239444" y="48463"/>
                  </a:moveTo>
                  <a:lnTo>
                    <a:pt x="238452" y="42113"/>
                  </a:lnTo>
                  <a:lnTo>
                    <a:pt x="236438" y="36106"/>
                  </a:lnTo>
                  <a:lnTo>
                    <a:pt x="233408" y="30441"/>
                  </a:lnTo>
                  <a:lnTo>
                    <a:pt x="230376" y="24765"/>
                  </a:lnTo>
                  <a:lnTo>
                    <a:pt x="226491" y="19761"/>
                  </a:lnTo>
                  <a:lnTo>
                    <a:pt x="221759" y="15417"/>
                  </a:lnTo>
                  <a:lnTo>
                    <a:pt x="217026" y="11061"/>
                  </a:lnTo>
                  <a:lnTo>
                    <a:pt x="211709" y="7620"/>
                  </a:lnTo>
                  <a:lnTo>
                    <a:pt x="205804" y="5080"/>
                  </a:lnTo>
                  <a:lnTo>
                    <a:pt x="199901" y="2540"/>
                  </a:lnTo>
                  <a:lnTo>
                    <a:pt x="193744" y="1041"/>
                  </a:lnTo>
                  <a:lnTo>
                    <a:pt x="187330" y="596"/>
                  </a:lnTo>
                </a:path>
                <a:path w="311150" h="248285">
                  <a:moveTo>
                    <a:pt x="187345" y="419"/>
                  </a:moveTo>
                  <a:lnTo>
                    <a:pt x="132646" y="0"/>
                  </a:lnTo>
                </a:path>
                <a:path w="311150" h="248285">
                  <a:moveTo>
                    <a:pt x="70728" y="57061"/>
                  </a:moveTo>
                  <a:lnTo>
                    <a:pt x="71169" y="98069"/>
                  </a:lnTo>
                </a:path>
              </a:pathLst>
            </a:custGeom>
            <a:ln w="176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24692" y="5829172"/>
            <a:ext cx="4890135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50" dirty="0">
                <a:solidFill>
                  <a:srgbClr val="D6E5EF"/>
                </a:solidFill>
                <a:latin typeface="Cambria"/>
                <a:cs typeface="Cambria"/>
              </a:rPr>
              <a:t>Admin</a:t>
            </a:r>
            <a:r>
              <a:rPr sz="1450" spc="85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D6E5EF"/>
                </a:solidFill>
                <a:latin typeface="Cambria"/>
                <a:cs typeface="Cambria"/>
              </a:rPr>
              <a:t>Management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Comprehensive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administrative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control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panel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that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enables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efficient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management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of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6E5EF"/>
                </a:solidFill>
                <a:latin typeface="Tahoma"/>
                <a:cs typeface="Tahoma"/>
              </a:rPr>
              <a:t>all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system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aspects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including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products,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6E5EF"/>
                </a:solidFill>
                <a:latin typeface="Tahoma"/>
                <a:cs typeface="Tahoma"/>
              </a:rPr>
              <a:t>orders,</a:t>
            </a:r>
            <a:r>
              <a:rPr sz="1250" spc="-10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customers,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platform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settings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01597" y="5248867"/>
            <a:ext cx="415337" cy="41562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801867" y="5829172"/>
            <a:ext cx="4692015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5" dirty="0">
                <a:solidFill>
                  <a:srgbClr val="D6E5EF"/>
                </a:solidFill>
                <a:latin typeface="Cambria"/>
                <a:cs typeface="Cambria"/>
              </a:rPr>
              <a:t>System</a:t>
            </a:r>
            <a:r>
              <a:rPr sz="1450" spc="65" dirty="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sz="1450" spc="60" dirty="0">
                <a:solidFill>
                  <a:srgbClr val="D6E5EF"/>
                </a:solidFill>
                <a:latin typeface="Cambria"/>
                <a:cs typeface="Cambria"/>
              </a:rPr>
              <a:t>Security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Robust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security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measures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protecting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customer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6E5EF"/>
                </a:solidFill>
                <a:latin typeface="Tahoma"/>
                <a:cs typeface="Tahoma"/>
              </a:rPr>
              <a:t>data</a:t>
            </a:r>
            <a:r>
              <a:rPr sz="1250" spc="-9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9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transactions, </a:t>
            </a:r>
            <a:r>
              <a:rPr sz="1250" spc="-35" dirty="0">
                <a:solidFill>
                  <a:srgbClr val="D6E5EF"/>
                </a:solidFill>
                <a:latin typeface="Tahoma"/>
                <a:cs typeface="Tahoma"/>
              </a:rPr>
              <a:t>ensuring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privacy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6E5EF"/>
                </a:solidFill>
                <a:latin typeface="Tahoma"/>
                <a:cs typeface="Tahoma"/>
              </a:rPr>
              <a:t>and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building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trust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with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users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6E5EF"/>
                </a:solidFill>
                <a:latin typeface="Tahoma"/>
                <a:cs typeface="Tahoma"/>
              </a:rPr>
              <a:t>through</a:t>
            </a:r>
            <a:r>
              <a:rPr sz="1250" spc="-105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6E5EF"/>
                </a:solidFill>
                <a:latin typeface="Tahoma"/>
                <a:cs typeface="Tahoma"/>
              </a:rPr>
              <a:t>secure</a:t>
            </a:r>
            <a:r>
              <a:rPr sz="1250" spc="-110" dirty="0">
                <a:solidFill>
                  <a:srgbClr val="D6E5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6E5EF"/>
                </a:solidFill>
                <a:latin typeface="Tahoma"/>
                <a:cs typeface="Tahoma"/>
              </a:rPr>
              <a:t>platform operations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9696450"/>
          </a:xfrm>
          <a:custGeom>
            <a:avLst/>
            <a:gdLst/>
            <a:ahLst/>
            <a:cxnLst/>
            <a:rect l="l" t="t" r="r" b="b"/>
            <a:pathLst>
              <a:path w="11430000" h="9696450">
                <a:moveTo>
                  <a:pt x="11429999" y="9696449"/>
                </a:moveTo>
                <a:lnTo>
                  <a:pt x="0" y="96964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9696449"/>
                </a:lnTo>
                <a:close/>
              </a:path>
            </a:pathLst>
          </a:custGeom>
          <a:solidFill>
            <a:srgbClr val="25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Technology</a:t>
            </a:r>
            <a:r>
              <a:rPr spc="165" dirty="0"/>
              <a:t> </a:t>
            </a:r>
            <a:r>
              <a:rPr spc="114" dirty="0"/>
              <a:t>Stack</a:t>
            </a:r>
          </a:p>
        </p:txBody>
      </p:sp>
      <p:sp>
        <p:nvSpPr>
          <p:cNvPr id="4" name="object 4"/>
          <p:cNvSpPr/>
          <p:nvPr/>
        </p:nvSpPr>
        <p:spPr>
          <a:xfrm>
            <a:off x="647699" y="2543174"/>
            <a:ext cx="4867275" cy="1495425"/>
          </a:xfrm>
          <a:custGeom>
            <a:avLst/>
            <a:gdLst/>
            <a:ahLst/>
            <a:cxnLst/>
            <a:rect l="l" t="t" r="r" b="b"/>
            <a:pathLst>
              <a:path w="4867275" h="1495425">
                <a:moveTo>
                  <a:pt x="0" y="1485025"/>
                </a:moveTo>
                <a:lnTo>
                  <a:pt x="0" y="10399"/>
                </a:lnTo>
                <a:lnTo>
                  <a:pt x="0" y="7527"/>
                </a:lnTo>
                <a:lnTo>
                  <a:pt x="1015" y="5076"/>
                </a:lnTo>
                <a:lnTo>
                  <a:pt x="3045" y="3045"/>
                </a:lnTo>
                <a:lnTo>
                  <a:pt x="5076" y="1015"/>
                </a:lnTo>
                <a:lnTo>
                  <a:pt x="7527" y="0"/>
                </a:lnTo>
                <a:lnTo>
                  <a:pt x="10399" y="0"/>
                </a:lnTo>
                <a:lnTo>
                  <a:pt x="4856875" y="0"/>
                </a:lnTo>
                <a:lnTo>
                  <a:pt x="4859746" y="0"/>
                </a:lnTo>
                <a:lnTo>
                  <a:pt x="4862197" y="1015"/>
                </a:lnTo>
                <a:lnTo>
                  <a:pt x="4864228" y="3045"/>
                </a:lnTo>
                <a:lnTo>
                  <a:pt x="4866259" y="5076"/>
                </a:lnTo>
                <a:lnTo>
                  <a:pt x="4867274" y="7527"/>
                </a:lnTo>
                <a:lnTo>
                  <a:pt x="4867274" y="10399"/>
                </a:lnTo>
                <a:lnTo>
                  <a:pt x="4867274" y="1485025"/>
                </a:lnTo>
                <a:lnTo>
                  <a:pt x="4856875" y="1495424"/>
                </a:lnTo>
                <a:lnTo>
                  <a:pt x="10399" y="1495424"/>
                </a:lnTo>
                <a:lnTo>
                  <a:pt x="0" y="1487896"/>
                </a:lnTo>
                <a:lnTo>
                  <a:pt x="0" y="1485025"/>
                </a:lnTo>
                <a:close/>
              </a:path>
            </a:pathLst>
          </a:custGeom>
          <a:ln w="19049">
            <a:solidFill>
              <a:srgbClr val="5C60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0988" y="2695448"/>
            <a:ext cx="4841240" cy="1140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25"/>
              </a:spcBef>
            </a:pPr>
            <a:r>
              <a:rPr sz="1450" spc="90" dirty="0">
                <a:solidFill>
                  <a:srgbClr val="D5E4EF"/>
                </a:solidFill>
                <a:latin typeface="Cambria"/>
                <a:cs typeface="Cambria"/>
              </a:rPr>
              <a:t>HTML</a:t>
            </a:r>
            <a:endParaRPr sz="1450">
              <a:latin typeface="Cambria"/>
              <a:cs typeface="Cambria"/>
            </a:endParaRPr>
          </a:p>
          <a:p>
            <a:pPr marL="154940" marR="262890">
              <a:lnSpc>
                <a:spcPct val="135000"/>
              </a:lnSpc>
              <a:spcBef>
                <a:spcPts val="935"/>
              </a:spcBef>
            </a:pP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Structured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markup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language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providing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foundation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web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interface,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ensuring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semantic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content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organization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accessibility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standards</a:t>
            </a:r>
            <a:r>
              <a:rPr sz="1250" spc="-6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compliance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7699" y="4219574"/>
            <a:ext cx="4867275" cy="1495425"/>
          </a:xfrm>
          <a:custGeom>
            <a:avLst/>
            <a:gdLst/>
            <a:ahLst/>
            <a:cxnLst/>
            <a:rect l="l" t="t" r="r" b="b"/>
            <a:pathLst>
              <a:path w="4867275" h="1495425">
                <a:moveTo>
                  <a:pt x="0" y="1485025"/>
                </a:moveTo>
                <a:lnTo>
                  <a:pt x="0" y="10399"/>
                </a:lnTo>
                <a:lnTo>
                  <a:pt x="0" y="7527"/>
                </a:lnTo>
                <a:lnTo>
                  <a:pt x="1015" y="5076"/>
                </a:lnTo>
                <a:lnTo>
                  <a:pt x="3045" y="3045"/>
                </a:lnTo>
                <a:lnTo>
                  <a:pt x="5076" y="1015"/>
                </a:lnTo>
                <a:lnTo>
                  <a:pt x="7527" y="0"/>
                </a:lnTo>
                <a:lnTo>
                  <a:pt x="10399" y="0"/>
                </a:lnTo>
                <a:lnTo>
                  <a:pt x="4856875" y="0"/>
                </a:lnTo>
                <a:lnTo>
                  <a:pt x="4859746" y="0"/>
                </a:lnTo>
                <a:lnTo>
                  <a:pt x="4862197" y="1015"/>
                </a:lnTo>
                <a:lnTo>
                  <a:pt x="4864228" y="3045"/>
                </a:lnTo>
                <a:lnTo>
                  <a:pt x="4866259" y="5076"/>
                </a:lnTo>
                <a:lnTo>
                  <a:pt x="4867274" y="7527"/>
                </a:lnTo>
                <a:lnTo>
                  <a:pt x="4867274" y="10399"/>
                </a:lnTo>
                <a:lnTo>
                  <a:pt x="4867274" y="1485025"/>
                </a:lnTo>
                <a:lnTo>
                  <a:pt x="4856875" y="1495424"/>
                </a:lnTo>
                <a:lnTo>
                  <a:pt x="10399" y="1495424"/>
                </a:lnTo>
                <a:lnTo>
                  <a:pt x="0" y="1487896"/>
                </a:lnTo>
                <a:lnTo>
                  <a:pt x="0" y="1485025"/>
                </a:lnTo>
                <a:close/>
              </a:path>
            </a:pathLst>
          </a:custGeom>
          <a:ln w="19049">
            <a:solidFill>
              <a:srgbClr val="5C60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0988" y="4371847"/>
            <a:ext cx="4841240" cy="1140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25"/>
              </a:spcBef>
            </a:pPr>
            <a:r>
              <a:rPr sz="1450" spc="110" dirty="0">
                <a:solidFill>
                  <a:srgbClr val="D5E4EF"/>
                </a:solidFill>
                <a:latin typeface="Cambria"/>
                <a:cs typeface="Cambria"/>
              </a:rPr>
              <a:t>CSS</a:t>
            </a:r>
            <a:endParaRPr sz="1450">
              <a:latin typeface="Cambria"/>
              <a:cs typeface="Cambria"/>
            </a:endParaRPr>
          </a:p>
          <a:p>
            <a:pPr marL="154940" marR="277495">
              <a:lnSpc>
                <a:spcPct val="135000"/>
              </a:lnSpc>
              <a:spcBef>
                <a:spcPts val="935"/>
              </a:spcBef>
            </a:pP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Style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sheets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controlling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visual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presentation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layout,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creating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an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attractive,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responsive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design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that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adapts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different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screen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sizes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2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devices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7699" y="5895974"/>
            <a:ext cx="4867275" cy="1495425"/>
          </a:xfrm>
          <a:custGeom>
            <a:avLst/>
            <a:gdLst/>
            <a:ahLst/>
            <a:cxnLst/>
            <a:rect l="l" t="t" r="r" b="b"/>
            <a:pathLst>
              <a:path w="4867275" h="1495425">
                <a:moveTo>
                  <a:pt x="0" y="1485025"/>
                </a:moveTo>
                <a:lnTo>
                  <a:pt x="0" y="10399"/>
                </a:lnTo>
                <a:lnTo>
                  <a:pt x="0" y="7527"/>
                </a:lnTo>
                <a:lnTo>
                  <a:pt x="1015" y="5076"/>
                </a:lnTo>
                <a:lnTo>
                  <a:pt x="3045" y="3045"/>
                </a:lnTo>
                <a:lnTo>
                  <a:pt x="5076" y="1015"/>
                </a:lnTo>
                <a:lnTo>
                  <a:pt x="7527" y="0"/>
                </a:lnTo>
                <a:lnTo>
                  <a:pt x="10399" y="0"/>
                </a:lnTo>
                <a:lnTo>
                  <a:pt x="4856875" y="0"/>
                </a:lnTo>
                <a:lnTo>
                  <a:pt x="4859746" y="0"/>
                </a:lnTo>
                <a:lnTo>
                  <a:pt x="4862197" y="1015"/>
                </a:lnTo>
                <a:lnTo>
                  <a:pt x="4864228" y="3045"/>
                </a:lnTo>
                <a:lnTo>
                  <a:pt x="4866259" y="5076"/>
                </a:lnTo>
                <a:lnTo>
                  <a:pt x="4867274" y="7527"/>
                </a:lnTo>
                <a:lnTo>
                  <a:pt x="4867274" y="10399"/>
                </a:lnTo>
                <a:lnTo>
                  <a:pt x="4867274" y="1485025"/>
                </a:lnTo>
                <a:lnTo>
                  <a:pt x="4856875" y="1495424"/>
                </a:lnTo>
                <a:lnTo>
                  <a:pt x="10399" y="1495424"/>
                </a:lnTo>
                <a:lnTo>
                  <a:pt x="0" y="1487896"/>
                </a:lnTo>
                <a:lnTo>
                  <a:pt x="0" y="1485025"/>
                </a:lnTo>
                <a:close/>
              </a:path>
            </a:pathLst>
          </a:custGeom>
          <a:ln w="19049">
            <a:solidFill>
              <a:srgbClr val="5C60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0988" y="6048247"/>
            <a:ext cx="4841240" cy="1140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25"/>
              </a:spcBef>
            </a:pPr>
            <a:r>
              <a:rPr sz="1450" spc="45" dirty="0">
                <a:solidFill>
                  <a:srgbClr val="D5E4EF"/>
                </a:solidFill>
                <a:latin typeface="Cambria"/>
                <a:cs typeface="Cambria"/>
              </a:rPr>
              <a:t>JavaScript</a:t>
            </a:r>
            <a:endParaRPr sz="1450">
              <a:latin typeface="Cambria"/>
              <a:cs typeface="Cambria"/>
            </a:endParaRPr>
          </a:p>
          <a:p>
            <a:pPr marL="154940" marR="313055">
              <a:lnSpc>
                <a:spcPct val="135000"/>
              </a:lnSpc>
              <a:spcBef>
                <a:spcPts val="935"/>
              </a:spcBef>
            </a:pP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Client-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side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scripting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enabling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interactive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features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dynamic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content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updates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without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page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reloads,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enhancing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user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experience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through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responsive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interactions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7699" y="7572374"/>
            <a:ext cx="4867275" cy="1495425"/>
          </a:xfrm>
          <a:custGeom>
            <a:avLst/>
            <a:gdLst/>
            <a:ahLst/>
            <a:cxnLst/>
            <a:rect l="l" t="t" r="r" b="b"/>
            <a:pathLst>
              <a:path w="4867275" h="1495425">
                <a:moveTo>
                  <a:pt x="0" y="1485025"/>
                </a:moveTo>
                <a:lnTo>
                  <a:pt x="0" y="10399"/>
                </a:lnTo>
                <a:lnTo>
                  <a:pt x="0" y="7527"/>
                </a:lnTo>
                <a:lnTo>
                  <a:pt x="1015" y="5076"/>
                </a:lnTo>
                <a:lnTo>
                  <a:pt x="3045" y="3045"/>
                </a:lnTo>
                <a:lnTo>
                  <a:pt x="5076" y="1015"/>
                </a:lnTo>
                <a:lnTo>
                  <a:pt x="7527" y="0"/>
                </a:lnTo>
                <a:lnTo>
                  <a:pt x="10399" y="0"/>
                </a:lnTo>
                <a:lnTo>
                  <a:pt x="4856875" y="0"/>
                </a:lnTo>
                <a:lnTo>
                  <a:pt x="4859746" y="0"/>
                </a:lnTo>
                <a:lnTo>
                  <a:pt x="4862197" y="1015"/>
                </a:lnTo>
                <a:lnTo>
                  <a:pt x="4864228" y="3045"/>
                </a:lnTo>
                <a:lnTo>
                  <a:pt x="4866259" y="5076"/>
                </a:lnTo>
                <a:lnTo>
                  <a:pt x="4867274" y="7527"/>
                </a:lnTo>
                <a:lnTo>
                  <a:pt x="4867274" y="10399"/>
                </a:lnTo>
                <a:lnTo>
                  <a:pt x="4867274" y="1485025"/>
                </a:lnTo>
                <a:lnTo>
                  <a:pt x="4856875" y="1495424"/>
                </a:lnTo>
                <a:lnTo>
                  <a:pt x="10399" y="1495424"/>
                </a:lnTo>
                <a:lnTo>
                  <a:pt x="0" y="1487896"/>
                </a:lnTo>
                <a:lnTo>
                  <a:pt x="0" y="1485025"/>
                </a:lnTo>
                <a:close/>
              </a:path>
            </a:pathLst>
          </a:custGeom>
          <a:ln w="19049">
            <a:solidFill>
              <a:srgbClr val="5C60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0988" y="7724647"/>
            <a:ext cx="4841240" cy="1130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25"/>
              </a:spcBef>
            </a:pPr>
            <a:r>
              <a:rPr sz="1450" spc="45" dirty="0">
                <a:solidFill>
                  <a:srgbClr val="D5E4EF"/>
                </a:solidFill>
                <a:latin typeface="Cambria"/>
                <a:cs typeface="Cambria"/>
              </a:rPr>
              <a:t>Bootstrap</a:t>
            </a:r>
            <a:endParaRPr sz="1450">
              <a:latin typeface="Cambria"/>
              <a:cs typeface="Cambria"/>
            </a:endParaRPr>
          </a:p>
          <a:p>
            <a:pPr marL="154940" marR="301625">
              <a:lnSpc>
                <a:spcPct val="132500"/>
              </a:lnSpc>
              <a:spcBef>
                <a:spcPts val="969"/>
              </a:spcBef>
            </a:pP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Popular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front-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end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framework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accelerating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development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pre-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built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components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responsive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grid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system,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ensuring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consistent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design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across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all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devices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879" y="1162170"/>
            <a:ext cx="10036810" cy="119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Elite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Shoppy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leverages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proven,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industry-standard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technologies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that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provide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reliability,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scalability,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maintainability.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technology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stack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was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carefully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selected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balance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development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efficiency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performance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requirements.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293360" algn="l"/>
              </a:tabLst>
            </a:pPr>
            <a:r>
              <a:rPr sz="1750" spc="70" dirty="0">
                <a:solidFill>
                  <a:srgbClr val="F98AC7"/>
                </a:solidFill>
                <a:latin typeface="Cambria"/>
                <a:cs typeface="Cambria"/>
              </a:rPr>
              <a:t>Frontend</a:t>
            </a:r>
            <a:r>
              <a:rPr sz="1750" spc="8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F98AC7"/>
                </a:solidFill>
                <a:latin typeface="Cambria"/>
                <a:cs typeface="Cambria"/>
              </a:rPr>
              <a:t>Technologies</a:t>
            </a:r>
            <a:r>
              <a:rPr sz="1750" dirty="0">
                <a:solidFill>
                  <a:srgbClr val="F98AC7"/>
                </a:solidFill>
                <a:latin typeface="Cambria"/>
                <a:cs typeface="Cambria"/>
              </a:rPr>
              <a:t>	</a:t>
            </a:r>
            <a:r>
              <a:rPr sz="1750" spc="70" dirty="0">
                <a:solidFill>
                  <a:srgbClr val="F98AC7"/>
                </a:solidFill>
                <a:latin typeface="Cambria"/>
                <a:cs typeface="Cambria"/>
              </a:rPr>
              <a:t>Backend</a:t>
            </a:r>
            <a:r>
              <a:rPr sz="1750" spc="10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F98AC7"/>
                </a:solidFill>
                <a:latin typeface="Cambria"/>
                <a:cs typeface="Cambria"/>
              </a:rPr>
              <a:t>&amp;</a:t>
            </a:r>
            <a:r>
              <a:rPr sz="1750" spc="10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F98AC7"/>
                </a:solidFill>
                <a:latin typeface="Cambria"/>
                <a:cs typeface="Cambria"/>
              </a:rPr>
              <a:t>Database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24549" y="2543174"/>
            <a:ext cx="4867275" cy="1495425"/>
          </a:xfrm>
          <a:custGeom>
            <a:avLst/>
            <a:gdLst/>
            <a:ahLst/>
            <a:cxnLst/>
            <a:rect l="l" t="t" r="r" b="b"/>
            <a:pathLst>
              <a:path w="4867275" h="1495425">
                <a:moveTo>
                  <a:pt x="0" y="1485025"/>
                </a:moveTo>
                <a:lnTo>
                  <a:pt x="0" y="10399"/>
                </a:lnTo>
                <a:lnTo>
                  <a:pt x="0" y="7527"/>
                </a:lnTo>
                <a:lnTo>
                  <a:pt x="1015" y="5076"/>
                </a:lnTo>
                <a:lnTo>
                  <a:pt x="3045" y="3045"/>
                </a:lnTo>
                <a:lnTo>
                  <a:pt x="5076" y="1015"/>
                </a:lnTo>
                <a:lnTo>
                  <a:pt x="7527" y="0"/>
                </a:lnTo>
                <a:lnTo>
                  <a:pt x="10399" y="0"/>
                </a:lnTo>
                <a:lnTo>
                  <a:pt x="4856875" y="0"/>
                </a:lnTo>
                <a:lnTo>
                  <a:pt x="4859745" y="0"/>
                </a:lnTo>
                <a:lnTo>
                  <a:pt x="4862197" y="1015"/>
                </a:lnTo>
                <a:lnTo>
                  <a:pt x="4864228" y="3045"/>
                </a:lnTo>
                <a:lnTo>
                  <a:pt x="4866258" y="5076"/>
                </a:lnTo>
                <a:lnTo>
                  <a:pt x="4867273" y="7527"/>
                </a:lnTo>
                <a:lnTo>
                  <a:pt x="4867274" y="10399"/>
                </a:lnTo>
                <a:lnTo>
                  <a:pt x="4867274" y="1485025"/>
                </a:lnTo>
                <a:lnTo>
                  <a:pt x="4856875" y="1495424"/>
                </a:lnTo>
                <a:lnTo>
                  <a:pt x="10399" y="1495424"/>
                </a:lnTo>
                <a:lnTo>
                  <a:pt x="0" y="1487896"/>
                </a:lnTo>
                <a:lnTo>
                  <a:pt x="0" y="1485025"/>
                </a:lnTo>
                <a:close/>
              </a:path>
            </a:pathLst>
          </a:custGeom>
          <a:ln w="19049">
            <a:solidFill>
              <a:srgbClr val="5C60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37838" y="2695448"/>
            <a:ext cx="4841240" cy="1140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25"/>
              </a:spcBef>
            </a:pPr>
            <a:r>
              <a:rPr sz="1450" spc="60" dirty="0">
                <a:solidFill>
                  <a:srgbClr val="D5E4EF"/>
                </a:solidFill>
                <a:latin typeface="Cambria"/>
                <a:cs typeface="Cambria"/>
              </a:rPr>
              <a:t>PHP</a:t>
            </a:r>
            <a:endParaRPr sz="1450">
              <a:latin typeface="Cambria"/>
              <a:cs typeface="Cambria"/>
            </a:endParaRPr>
          </a:p>
          <a:p>
            <a:pPr marL="159385" marR="344170">
              <a:lnSpc>
                <a:spcPct val="135000"/>
              </a:lnSpc>
              <a:spcBef>
                <a:spcPts val="935"/>
              </a:spcBef>
            </a:pP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Server-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side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scripting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language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handling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business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logic,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user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authentication,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data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processing,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dynamic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content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generation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13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2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24549" y="4219574"/>
            <a:ext cx="4867275" cy="1495425"/>
          </a:xfrm>
          <a:custGeom>
            <a:avLst/>
            <a:gdLst/>
            <a:ahLst/>
            <a:cxnLst/>
            <a:rect l="l" t="t" r="r" b="b"/>
            <a:pathLst>
              <a:path w="4867275" h="1495425">
                <a:moveTo>
                  <a:pt x="0" y="1485025"/>
                </a:moveTo>
                <a:lnTo>
                  <a:pt x="0" y="10399"/>
                </a:lnTo>
                <a:lnTo>
                  <a:pt x="0" y="7527"/>
                </a:lnTo>
                <a:lnTo>
                  <a:pt x="1015" y="5076"/>
                </a:lnTo>
                <a:lnTo>
                  <a:pt x="3045" y="3045"/>
                </a:lnTo>
                <a:lnTo>
                  <a:pt x="5076" y="1015"/>
                </a:lnTo>
                <a:lnTo>
                  <a:pt x="7527" y="0"/>
                </a:lnTo>
                <a:lnTo>
                  <a:pt x="10399" y="0"/>
                </a:lnTo>
                <a:lnTo>
                  <a:pt x="4856875" y="0"/>
                </a:lnTo>
                <a:lnTo>
                  <a:pt x="4859745" y="0"/>
                </a:lnTo>
                <a:lnTo>
                  <a:pt x="4862197" y="1015"/>
                </a:lnTo>
                <a:lnTo>
                  <a:pt x="4864228" y="3045"/>
                </a:lnTo>
                <a:lnTo>
                  <a:pt x="4866258" y="5076"/>
                </a:lnTo>
                <a:lnTo>
                  <a:pt x="4867273" y="7527"/>
                </a:lnTo>
                <a:lnTo>
                  <a:pt x="4867274" y="10399"/>
                </a:lnTo>
                <a:lnTo>
                  <a:pt x="4867274" y="1485025"/>
                </a:lnTo>
                <a:lnTo>
                  <a:pt x="4856875" y="1495424"/>
                </a:lnTo>
                <a:lnTo>
                  <a:pt x="10399" y="1495424"/>
                </a:lnTo>
                <a:lnTo>
                  <a:pt x="0" y="1487896"/>
                </a:lnTo>
                <a:lnTo>
                  <a:pt x="0" y="1485025"/>
                </a:lnTo>
                <a:close/>
              </a:path>
            </a:pathLst>
          </a:custGeom>
          <a:ln w="19049">
            <a:solidFill>
              <a:srgbClr val="5C60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37838" y="4371847"/>
            <a:ext cx="4841240" cy="1140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25"/>
              </a:spcBef>
            </a:pPr>
            <a:r>
              <a:rPr sz="1450" spc="100" dirty="0">
                <a:solidFill>
                  <a:srgbClr val="D5E4EF"/>
                </a:solidFill>
                <a:latin typeface="Cambria"/>
                <a:cs typeface="Cambria"/>
              </a:rPr>
              <a:t>MySQL</a:t>
            </a:r>
            <a:endParaRPr sz="1450">
              <a:latin typeface="Cambria"/>
              <a:cs typeface="Cambria"/>
            </a:endParaRPr>
          </a:p>
          <a:p>
            <a:pPr marL="159385" marR="311150">
              <a:lnSpc>
                <a:spcPct val="135000"/>
              </a:lnSpc>
              <a:spcBef>
                <a:spcPts val="935"/>
              </a:spcBef>
            </a:pP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Relational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database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management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storing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all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data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including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products,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users,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orders,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categories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efficient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querying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capabilities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24549" y="5895974"/>
            <a:ext cx="4867275" cy="1495425"/>
          </a:xfrm>
          <a:custGeom>
            <a:avLst/>
            <a:gdLst/>
            <a:ahLst/>
            <a:cxnLst/>
            <a:rect l="l" t="t" r="r" b="b"/>
            <a:pathLst>
              <a:path w="4867275" h="1495425">
                <a:moveTo>
                  <a:pt x="0" y="1485025"/>
                </a:moveTo>
                <a:lnTo>
                  <a:pt x="0" y="10399"/>
                </a:lnTo>
                <a:lnTo>
                  <a:pt x="0" y="7527"/>
                </a:lnTo>
                <a:lnTo>
                  <a:pt x="1015" y="5076"/>
                </a:lnTo>
                <a:lnTo>
                  <a:pt x="3045" y="3045"/>
                </a:lnTo>
                <a:lnTo>
                  <a:pt x="5076" y="1015"/>
                </a:lnTo>
                <a:lnTo>
                  <a:pt x="7527" y="0"/>
                </a:lnTo>
                <a:lnTo>
                  <a:pt x="10399" y="0"/>
                </a:lnTo>
                <a:lnTo>
                  <a:pt x="4856875" y="0"/>
                </a:lnTo>
                <a:lnTo>
                  <a:pt x="4859745" y="0"/>
                </a:lnTo>
                <a:lnTo>
                  <a:pt x="4862197" y="1015"/>
                </a:lnTo>
                <a:lnTo>
                  <a:pt x="4864228" y="3045"/>
                </a:lnTo>
                <a:lnTo>
                  <a:pt x="4866258" y="5076"/>
                </a:lnTo>
                <a:lnTo>
                  <a:pt x="4867273" y="7527"/>
                </a:lnTo>
                <a:lnTo>
                  <a:pt x="4867274" y="10399"/>
                </a:lnTo>
                <a:lnTo>
                  <a:pt x="4867274" y="1485025"/>
                </a:lnTo>
                <a:lnTo>
                  <a:pt x="4856875" y="1495424"/>
                </a:lnTo>
                <a:lnTo>
                  <a:pt x="10399" y="1495424"/>
                </a:lnTo>
                <a:lnTo>
                  <a:pt x="0" y="1487896"/>
                </a:lnTo>
                <a:lnTo>
                  <a:pt x="0" y="1485025"/>
                </a:lnTo>
                <a:close/>
              </a:path>
            </a:pathLst>
          </a:custGeom>
          <a:ln w="19049">
            <a:solidFill>
              <a:srgbClr val="5C60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37838" y="6048247"/>
            <a:ext cx="4841240" cy="1140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25"/>
              </a:spcBef>
            </a:pPr>
            <a:r>
              <a:rPr sz="1450" spc="45" dirty="0">
                <a:solidFill>
                  <a:srgbClr val="D5E4EF"/>
                </a:solidFill>
                <a:latin typeface="Cambria"/>
                <a:cs typeface="Cambria"/>
              </a:rPr>
              <a:t>phpMyAdmin</a:t>
            </a:r>
            <a:endParaRPr sz="1450">
              <a:latin typeface="Cambria"/>
              <a:cs typeface="Cambria"/>
            </a:endParaRPr>
          </a:p>
          <a:p>
            <a:pPr marL="159385" marR="527685" algn="just">
              <a:lnSpc>
                <a:spcPct val="135000"/>
              </a:lnSpc>
              <a:spcBef>
                <a:spcPts val="935"/>
              </a:spcBef>
            </a:pP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Web-</a:t>
            </a: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based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database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administration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tool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providing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an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 intuitive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interface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7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managing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MySQL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databases,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running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queries,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 and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maintaining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data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integrity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96100"/>
          </a:xfrm>
          <a:custGeom>
            <a:avLst/>
            <a:gdLst/>
            <a:ahLst/>
            <a:cxnLst/>
            <a:rect l="l" t="t" r="r" b="b"/>
            <a:pathLst>
              <a:path w="11430000" h="6896100">
                <a:moveTo>
                  <a:pt x="11429999" y="6896099"/>
                </a:moveTo>
                <a:lnTo>
                  <a:pt x="0" y="68960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896099"/>
                </a:lnTo>
                <a:close/>
              </a:path>
            </a:pathLst>
          </a:custGeom>
          <a:solidFill>
            <a:srgbClr val="25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Database</a:t>
            </a:r>
            <a:r>
              <a:rPr spc="160" dirty="0"/>
              <a:t> </a:t>
            </a:r>
            <a:r>
              <a:rPr spc="120" dirty="0"/>
              <a:t>Structure</a:t>
            </a:r>
          </a:p>
        </p:txBody>
      </p:sp>
      <p:sp>
        <p:nvSpPr>
          <p:cNvPr id="4" name="object 4"/>
          <p:cNvSpPr/>
          <p:nvPr/>
        </p:nvSpPr>
        <p:spPr>
          <a:xfrm>
            <a:off x="638162" y="2171699"/>
            <a:ext cx="10157460" cy="638175"/>
          </a:xfrm>
          <a:custGeom>
            <a:avLst/>
            <a:gdLst/>
            <a:ahLst/>
            <a:cxnLst/>
            <a:rect l="l" t="t" r="r" b="b"/>
            <a:pathLst>
              <a:path w="10157460" h="638175">
                <a:moveTo>
                  <a:pt x="3384956" y="318795"/>
                </a:moveTo>
                <a:lnTo>
                  <a:pt x="3225558" y="0"/>
                </a:lnTo>
                <a:lnTo>
                  <a:pt x="0" y="0"/>
                </a:lnTo>
                <a:lnTo>
                  <a:pt x="159397" y="318795"/>
                </a:lnTo>
                <a:lnTo>
                  <a:pt x="0" y="637590"/>
                </a:lnTo>
                <a:lnTo>
                  <a:pt x="3225558" y="637590"/>
                </a:lnTo>
                <a:lnTo>
                  <a:pt x="3384956" y="318795"/>
                </a:lnTo>
                <a:close/>
              </a:path>
              <a:path w="10157460" h="638175">
                <a:moveTo>
                  <a:pt x="6766331" y="318795"/>
                </a:moveTo>
                <a:lnTo>
                  <a:pt x="6606934" y="0"/>
                </a:lnTo>
                <a:lnTo>
                  <a:pt x="3381375" y="0"/>
                </a:lnTo>
                <a:lnTo>
                  <a:pt x="3540772" y="318795"/>
                </a:lnTo>
                <a:lnTo>
                  <a:pt x="3381375" y="637590"/>
                </a:lnTo>
                <a:lnTo>
                  <a:pt x="6606934" y="637590"/>
                </a:lnTo>
                <a:lnTo>
                  <a:pt x="6766331" y="318795"/>
                </a:lnTo>
                <a:close/>
              </a:path>
              <a:path w="10157460" h="638175">
                <a:moveTo>
                  <a:pt x="10157231" y="318795"/>
                </a:moveTo>
                <a:lnTo>
                  <a:pt x="9997834" y="0"/>
                </a:lnTo>
                <a:lnTo>
                  <a:pt x="6772275" y="0"/>
                </a:lnTo>
                <a:lnTo>
                  <a:pt x="6931673" y="318795"/>
                </a:lnTo>
                <a:lnTo>
                  <a:pt x="6772275" y="637590"/>
                </a:lnTo>
                <a:lnTo>
                  <a:pt x="9997834" y="637590"/>
                </a:lnTo>
                <a:lnTo>
                  <a:pt x="10157231" y="318795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4274" y="2952623"/>
            <a:ext cx="3001645" cy="816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80" dirty="0">
                <a:solidFill>
                  <a:srgbClr val="D5E4EF"/>
                </a:solidFill>
                <a:latin typeface="Cambria"/>
                <a:cs typeface="Cambria"/>
              </a:rPr>
              <a:t>Category</a:t>
            </a:r>
            <a:r>
              <a:rPr sz="1450" spc="9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-20" dirty="0">
                <a:solidFill>
                  <a:srgbClr val="D5E4EF"/>
                </a:solidFill>
                <a:latin typeface="Cambria"/>
                <a:cs typeface="Cambria"/>
              </a:rPr>
              <a:t>Table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Stores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main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categories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unique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identifiers,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category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names,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descriptions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9221" y="2952623"/>
            <a:ext cx="3021965" cy="816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5" dirty="0">
                <a:solidFill>
                  <a:srgbClr val="D5E4EF"/>
                </a:solidFill>
                <a:latin typeface="Cambria"/>
                <a:cs typeface="Cambria"/>
              </a:rPr>
              <a:t>Subcategory</a:t>
            </a:r>
            <a:r>
              <a:rPr sz="1450" spc="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-20" dirty="0">
                <a:solidFill>
                  <a:srgbClr val="D5E4EF"/>
                </a:solidFill>
                <a:latin typeface="Cambria"/>
                <a:cs typeface="Cambria"/>
              </a:rPr>
              <a:t>Table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Contains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subcategory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details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linked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parent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categories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through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foreign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key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relationships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pc="-55" dirty="0"/>
              <a:t>The</a:t>
            </a:r>
            <a:r>
              <a:rPr spc="-110" dirty="0"/>
              <a:t> </a:t>
            </a:r>
            <a:r>
              <a:rPr spc="-45" dirty="0"/>
              <a:t>system</a:t>
            </a:r>
            <a:r>
              <a:rPr spc="-105" dirty="0"/>
              <a:t> </a:t>
            </a:r>
            <a:r>
              <a:rPr spc="-25" dirty="0"/>
              <a:t>employs</a:t>
            </a:r>
            <a:r>
              <a:rPr spc="-110" dirty="0"/>
              <a:t> </a:t>
            </a:r>
            <a:r>
              <a:rPr spc="-25" dirty="0"/>
              <a:t>a</a:t>
            </a:r>
            <a:r>
              <a:rPr spc="-105" dirty="0"/>
              <a:t> </a:t>
            </a:r>
            <a:r>
              <a:rPr spc="-10" dirty="0"/>
              <a:t>relational</a:t>
            </a:r>
            <a:r>
              <a:rPr spc="-105" dirty="0"/>
              <a:t> </a:t>
            </a:r>
            <a:r>
              <a:rPr spc="-35" dirty="0"/>
              <a:t>database</a:t>
            </a:r>
            <a:r>
              <a:rPr spc="-110" dirty="0"/>
              <a:t> </a:t>
            </a:r>
            <a:r>
              <a:rPr spc="-35" dirty="0"/>
              <a:t>design</a:t>
            </a:r>
            <a:r>
              <a:rPr spc="-105" dirty="0"/>
              <a:t> </a:t>
            </a:r>
            <a:r>
              <a:rPr spc="-10" dirty="0"/>
              <a:t>with</a:t>
            </a:r>
            <a:r>
              <a:rPr spc="-105" dirty="0"/>
              <a:t> </a:t>
            </a:r>
            <a:r>
              <a:rPr spc="-40" dirty="0"/>
              <a:t>six</a:t>
            </a:r>
            <a:r>
              <a:rPr spc="-110" dirty="0"/>
              <a:t> </a:t>
            </a:r>
            <a:r>
              <a:rPr spc="-30" dirty="0"/>
              <a:t>interconnected</a:t>
            </a:r>
            <a:r>
              <a:rPr spc="-105" dirty="0"/>
              <a:t> </a:t>
            </a:r>
            <a:r>
              <a:rPr spc="-25" dirty="0"/>
              <a:t>tables</a:t>
            </a:r>
            <a:r>
              <a:rPr spc="-105" dirty="0"/>
              <a:t> </a:t>
            </a:r>
            <a:r>
              <a:rPr spc="-20" dirty="0"/>
              <a:t>that</a:t>
            </a:r>
            <a:r>
              <a:rPr spc="-110" dirty="0"/>
              <a:t> </a:t>
            </a:r>
            <a:r>
              <a:rPr spc="-25" dirty="0"/>
              <a:t>efficiently</a:t>
            </a:r>
            <a:r>
              <a:rPr spc="-105" dirty="0"/>
              <a:t> </a:t>
            </a:r>
            <a:r>
              <a:rPr spc="-40" dirty="0"/>
              <a:t>store</a:t>
            </a:r>
            <a:r>
              <a:rPr spc="-105" dirty="0"/>
              <a:t> </a:t>
            </a:r>
            <a:r>
              <a:rPr spc="-20" dirty="0"/>
              <a:t>and</a:t>
            </a:r>
            <a:r>
              <a:rPr spc="-110" dirty="0"/>
              <a:t> </a:t>
            </a:r>
            <a:r>
              <a:rPr spc="-45" dirty="0"/>
              <a:t>manage</a:t>
            </a:r>
            <a:r>
              <a:rPr spc="-105" dirty="0"/>
              <a:t> </a:t>
            </a:r>
            <a:r>
              <a:rPr dirty="0"/>
              <a:t>all</a:t>
            </a:r>
            <a:r>
              <a:rPr spc="-105" dirty="0"/>
              <a:t> </a:t>
            </a:r>
            <a:r>
              <a:rPr spc="-20" dirty="0"/>
              <a:t>platform</a:t>
            </a:r>
            <a:r>
              <a:rPr spc="-110" dirty="0"/>
              <a:t> </a:t>
            </a:r>
            <a:r>
              <a:rPr spc="-35" dirty="0"/>
              <a:t>data.</a:t>
            </a:r>
            <a:r>
              <a:rPr spc="-100" dirty="0"/>
              <a:t> </a:t>
            </a:r>
            <a:r>
              <a:rPr spc="-35" dirty="0"/>
              <a:t>Each</a:t>
            </a:r>
            <a:r>
              <a:rPr spc="-105" dirty="0"/>
              <a:t> </a:t>
            </a:r>
            <a:r>
              <a:rPr spc="-20" dirty="0"/>
              <a:t>table</a:t>
            </a:r>
            <a:r>
              <a:rPr spc="-110" dirty="0"/>
              <a:t> </a:t>
            </a:r>
            <a:r>
              <a:rPr spc="-45" dirty="0"/>
              <a:t>serves</a:t>
            </a:r>
            <a:r>
              <a:rPr spc="-105" dirty="0"/>
              <a:t> </a:t>
            </a:r>
            <a:r>
              <a:rPr spc="-50" dirty="0"/>
              <a:t>a </a:t>
            </a:r>
            <a:r>
              <a:rPr spc="-25" dirty="0"/>
              <a:t>specific</a:t>
            </a:r>
            <a:r>
              <a:rPr spc="-95" dirty="0"/>
              <a:t> </a:t>
            </a:r>
            <a:r>
              <a:rPr spc="-30" dirty="0"/>
              <a:t>purpose</a:t>
            </a:r>
            <a:r>
              <a:rPr spc="-9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30" dirty="0"/>
              <a:t>the</a:t>
            </a:r>
            <a:r>
              <a:rPr spc="-95" dirty="0"/>
              <a:t> </a:t>
            </a:r>
            <a:r>
              <a:rPr spc="-25" dirty="0"/>
              <a:t>overall</a:t>
            </a:r>
            <a:r>
              <a:rPr spc="-95" dirty="0"/>
              <a:t> </a:t>
            </a:r>
            <a:r>
              <a:rPr spc="-25" dirty="0"/>
              <a:t>data</a:t>
            </a:r>
            <a:r>
              <a:rPr spc="-95" dirty="0"/>
              <a:t> </a:t>
            </a:r>
            <a:r>
              <a:rPr spc="-35" dirty="0"/>
              <a:t>architecture,</a:t>
            </a:r>
            <a:r>
              <a:rPr spc="-90" dirty="0"/>
              <a:t> </a:t>
            </a:r>
            <a:r>
              <a:rPr spc="-10" dirty="0"/>
              <a:t>with</a:t>
            </a:r>
            <a:r>
              <a:rPr spc="-95" dirty="0"/>
              <a:t> </a:t>
            </a:r>
            <a:r>
              <a:rPr spc="-20" dirty="0"/>
              <a:t>appropriate</a:t>
            </a:r>
            <a:r>
              <a:rPr spc="-95" dirty="0"/>
              <a:t> </a:t>
            </a:r>
            <a:r>
              <a:rPr spc="-25" dirty="0"/>
              <a:t>relationships</a:t>
            </a:r>
            <a:r>
              <a:rPr spc="-90" dirty="0"/>
              <a:t> </a:t>
            </a:r>
            <a:r>
              <a:rPr spc="-30" dirty="0"/>
              <a:t>established</a:t>
            </a:r>
            <a:r>
              <a:rPr spc="-95" dirty="0"/>
              <a:t> </a:t>
            </a:r>
            <a:r>
              <a:rPr spc="-40" dirty="0"/>
              <a:t>between</a:t>
            </a:r>
            <a:r>
              <a:rPr spc="-95" dirty="0"/>
              <a:t> </a:t>
            </a:r>
            <a:r>
              <a:rPr spc="-30" dirty="0"/>
              <a:t>them</a:t>
            </a:r>
            <a:r>
              <a:rPr spc="-95" dirty="0"/>
              <a:t> </a:t>
            </a:r>
            <a:r>
              <a:rPr spc="-10" dirty="0"/>
              <a:t>to</a:t>
            </a:r>
            <a:r>
              <a:rPr spc="-95" dirty="0"/>
              <a:t> </a:t>
            </a:r>
            <a:r>
              <a:rPr spc="-20" dirty="0"/>
              <a:t>maintain</a:t>
            </a:r>
            <a:r>
              <a:rPr spc="-95" dirty="0"/>
              <a:t> </a:t>
            </a:r>
            <a:r>
              <a:rPr spc="-25" dirty="0"/>
              <a:t>data</a:t>
            </a:r>
            <a:r>
              <a:rPr spc="-95" dirty="0"/>
              <a:t> </a:t>
            </a:r>
            <a:r>
              <a:rPr spc="-30" dirty="0"/>
              <a:t>integrity</a:t>
            </a:r>
            <a:r>
              <a:rPr spc="-95" dirty="0"/>
              <a:t> </a:t>
            </a:r>
            <a:r>
              <a:rPr spc="-20" dirty="0"/>
              <a:t>and</a:t>
            </a:r>
            <a:r>
              <a:rPr spc="-95" dirty="0"/>
              <a:t> </a:t>
            </a:r>
            <a:r>
              <a:rPr spc="-25" dirty="0"/>
              <a:t>enable</a:t>
            </a:r>
            <a:r>
              <a:rPr spc="-95" dirty="0"/>
              <a:t> </a:t>
            </a:r>
            <a:r>
              <a:rPr spc="-10" dirty="0"/>
              <a:t>efficient queries.</a:t>
            </a:r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/>
          </a:p>
          <a:p>
            <a:pPr marL="1661160">
              <a:lnSpc>
                <a:spcPct val="100000"/>
              </a:lnSpc>
              <a:tabLst>
                <a:tab pos="5025390" algn="l"/>
                <a:tab pos="8408035" algn="l"/>
              </a:tabLst>
            </a:pPr>
            <a:r>
              <a:rPr sz="1850" spc="-400" dirty="0">
                <a:latin typeface="Cambria"/>
                <a:cs typeface="Cambria"/>
              </a:rPr>
              <a:t>1</a:t>
            </a:r>
            <a:r>
              <a:rPr sz="1850" dirty="0">
                <a:latin typeface="Cambria"/>
                <a:cs typeface="Cambria"/>
              </a:rPr>
              <a:t>	</a:t>
            </a:r>
            <a:r>
              <a:rPr sz="1850" spc="-50" dirty="0">
                <a:latin typeface="Cambria"/>
                <a:cs typeface="Cambria"/>
              </a:rPr>
              <a:t>2</a:t>
            </a:r>
            <a:r>
              <a:rPr sz="1850" dirty="0">
                <a:latin typeface="Cambria"/>
                <a:cs typeface="Cambria"/>
              </a:rPr>
              <a:t>	</a:t>
            </a:r>
            <a:r>
              <a:rPr sz="1850" spc="-50" dirty="0">
                <a:latin typeface="Cambria"/>
                <a:cs typeface="Cambria"/>
              </a:rPr>
              <a:t>3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4168" y="2952623"/>
            <a:ext cx="3089275" cy="816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D5E4EF"/>
                </a:solidFill>
                <a:latin typeface="Cambria"/>
                <a:cs typeface="Cambria"/>
              </a:rPr>
              <a:t>Brand</a:t>
            </a:r>
            <a:r>
              <a:rPr sz="1450" spc="29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-10" dirty="0">
                <a:solidFill>
                  <a:srgbClr val="D5E4EF"/>
                </a:solidFill>
                <a:latin typeface="Cambria"/>
                <a:cs typeface="Cambria"/>
              </a:rPr>
              <a:t>Table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09"/>
              </a:spcBef>
            </a:pP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Maintains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brand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information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including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names,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descriptions,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7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brand-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specific</a:t>
            </a:r>
            <a:r>
              <a:rPr sz="1250" spc="-7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details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8174" y="4152899"/>
            <a:ext cx="3385185" cy="638175"/>
          </a:xfrm>
          <a:custGeom>
            <a:avLst/>
            <a:gdLst/>
            <a:ahLst/>
            <a:cxnLst/>
            <a:rect l="l" t="t" r="r" b="b"/>
            <a:pathLst>
              <a:path w="3385185" h="638175">
                <a:moveTo>
                  <a:pt x="3225551" y="637580"/>
                </a:moveTo>
                <a:lnTo>
                  <a:pt x="0" y="637580"/>
                </a:lnTo>
                <a:lnTo>
                  <a:pt x="159395" y="318790"/>
                </a:lnTo>
                <a:lnTo>
                  <a:pt x="0" y="0"/>
                </a:lnTo>
                <a:lnTo>
                  <a:pt x="3225551" y="0"/>
                </a:lnTo>
                <a:lnTo>
                  <a:pt x="3384946" y="318790"/>
                </a:lnTo>
                <a:lnTo>
                  <a:pt x="3225551" y="63758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73746" y="4291647"/>
            <a:ext cx="11303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spc="-400" dirty="0">
                <a:solidFill>
                  <a:srgbClr val="D5E4EF"/>
                </a:solidFill>
                <a:latin typeface="Cambria"/>
                <a:cs typeface="Cambria"/>
              </a:rPr>
              <a:t>1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4274" y="4924297"/>
            <a:ext cx="2707005" cy="1330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5" dirty="0">
                <a:solidFill>
                  <a:srgbClr val="D5E4EF"/>
                </a:solidFill>
                <a:latin typeface="Cambria"/>
                <a:cs typeface="Cambria"/>
              </a:rPr>
              <a:t>Product</a:t>
            </a: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-20" dirty="0">
                <a:solidFill>
                  <a:srgbClr val="D5E4EF"/>
                </a:solidFill>
                <a:latin typeface="Cambria"/>
                <a:cs typeface="Cambria"/>
              </a:rPr>
              <a:t>Table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3300"/>
              </a:lnSpc>
              <a:spcBef>
                <a:spcPts val="509"/>
              </a:spcBef>
            </a:pP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Stores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individual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items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with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comprehensive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details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including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pricing,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sizing,</a:t>
            </a:r>
            <a:r>
              <a:rPr sz="1250" spc="-6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availability,</a:t>
            </a: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relationships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to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categories,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subcategories,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7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brands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19550" y="4152899"/>
            <a:ext cx="3385185" cy="638175"/>
          </a:xfrm>
          <a:custGeom>
            <a:avLst/>
            <a:gdLst/>
            <a:ahLst/>
            <a:cxnLst/>
            <a:rect l="l" t="t" r="r" b="b"/>
            <a:pathLst>
              <a:path w="3385184" h="638175">
                <a:moveTo>
                  <a:pt x="3225551" y="637580"/>
                </a:moveTo>
                <a:lnTo>
                  <a:pt x="0" y="637580"/>
                </a:lnTo>
                <a:lnTo>
                  <a:pt x="159395" y="318790"/>
                </a:lnTo>
                <a:lnTo>
                  <a:pt x="0" y="0"/>
                </a:lnTo>
                <a:lnTo>
                  <a:pt x="3225551" y="0"/>
                </a:lnTo>
                <a:lnTo>
                  <a:pt x="3384946" y="318790"/>
                </a:lnTo>
                <a:lnTo>
                  <a:pt x="3225551" y="63758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38005" y="4291647"/>
            <a:ext cx="15430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spc="-50" dirty="0">
                <a:solidFill>
                  <a:srgbClr val="D5E4EF"/>
                </a:solidFill>
                <a:latin typeface="Cambria"/>
                <a:cs typeface="Cambria"/>
              </a:rPr>
              <a:t>2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9221" y="4924297"/>
            <a:ext cx="307657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80" dirty="0">
                <a:solidFill>
                  <a:srgbClr val="D5E4EF"/>
                </a:solidFill>
                <a:latin typeface="Cambria"/>
                <a:cs typeface="Cambria"/>
              </a:rPr>
              <a:t>User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-10" dirty="0">
                <a:solidFill>
                  <a:srgbClr val="D5E4EF"/>
                </a:solidFill>
                <a:latin typeface="Cambria"/>
                <a:cs typeface="Cambria"/>
              </a:rPr>
              <a:t>Table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2500"/>
              </a:lnSpc>
              <a:spcBef>
                <a:spcPts val="520"/>
              </a:spcBef>
            </a:pP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Manages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accounts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personal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information,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login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credentials,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contact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details,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order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history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tracking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10450" y="4152899"/>
            <a:ext cx="3385185" cy="638175"/>
          </a:xfrm>
          <a:custGeom>
            <a:avLst/>
            <a:gdLst/>
            <a:ahLst/>
            <a:cxnLst/>
            <a:rect l="l" t="t" r="r" b="b"/>
            <a:pathLst>
              <a:path w="3385184" h="638175">
                <a:moveTo>
                  <a:pt x="3225551" y="637580"/>
                </a:moveTo>
                <a:lnTo>
                  <a:pt x="0" y="637580"/>
                </a:lnTo>
                <a:lnTo>
                  <a:pt x="159395" y="318790"/>
                </a:lnTo>
                <a:lnTo>
                  <a:pt x="0" y="0"/>
                </a:lnTo>
                <a:lnTo>
                  <a:pt x="3225551" y="0"/>
                </a:lnTo>
                <a:lnTo>
                  <a:pt x="3384946" y="318790"/>
                </a:lnTo>
                <a:lnTo>
                  <a:pt x="3225551" y="637580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020571" y="4291647"/>
            <a:ext cx="15875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spc="-50" dirty="0">
                <a:solidFill>
                  <a:srgbClr val="D5E4EF"/>
                </a:solidFill>
                <a:latin typeface="Cambria"/>
                <a:cs typeface="Cambria"/>
              </a:rPr>
              <a:t>3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54168" y="4924297"/>
            <a:ext cx="2578735" cy="1330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85" dirty="0">
                <a:solidFill>
                  <a:srgbClr val="D5E4EF"/>
                </a:solidFill>
                <a:latin typeface="Cambria"/>
                <a:cs typeface="Cambria"/>
              </a:rPr>
              <a:t>Order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-20" dirty="0">
                <a:solidFill>
                  <a:srgbClr val="D5E4EF"/>
                </a:solidFill>
                <a:latin typeface="Cambria"/>
                <a:cs typeface="Cambria"/>
              </a:rPr>
              <a:t>Table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3300"/>
              </a:lnSpc>
              <a:spcBef>
                <a:spcPts val="509"/>
              </a:spcBef>
            </a:pP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Tracks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orders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customer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information,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product</a:t>
            </a:r>
            <a:r>
              <a:rPr sz="1250" spc="-6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selections,</a:t>
            </a:r>
            <a:r>
              <a:rPr sz="1250" spc="-6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rental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periods,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pricing,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order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status management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210425"/>
          </a:xfrm>
          <a:custGeom>
            <a:avLst/>
            <a:gdLst/>
            <a:ahLst/>
            <a:cxnLst/>
            <a:rect l="l" t="t" r="r" b="b"/>
            <a:pathLst>
              <a:path w="11430000" h="7210425">
                <a:moveTo>
                  <a:pt x="11429999" y="7210424"/>
                </a:moveTo>
                <a:lnTo>
                  <a:pt x="0" y="72104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210424"/>
                </a:lnTo>
                <a:close/>
              </a:path>
            </a:pathLst>
          </a:custGeom>
          <a:solidFill>
            <a:srgbClr val="25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Advantages</a:t>
            </a:r>
            <a:r>
              <a:rPr spc="150" dirty="0"/>
              <a:t> </a:t>
            </a:r>
            <a:r>
              <a:rPr dirty="0"/>
              <a:t>&amp;</a:t>
            </a:r>
            <a:r>
              <a:rPr spc="145" dirty="0"/>
              <a:t> </a:t>
            </a:r>
            <a:r>
              <a:rPr spc="105" dirty="0"/>
              <a:t>Benefits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1855663"/>
            <a:ext cx="76199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" y="3074863"/>
            <a:ext cx="76199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5" y="4294063"/>
            <a:ext cx="76199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175" y="5522788"/>
            <a:ext cx="76199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24879" y="1286319"/>
            <a:ext cx="4787265" cy="50165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105" dirty="0">
                <a:solidFill>
                  <a:srgbClr val="F98AC7"/>
                </a:solidFill>
                <a:latin typeface="Cambria"/>
                <a:cs typeface="Cambria"/>
              </a:rPr>
              <a:t>Customer</a:t>
            </a:r>
            <a:r>
              <a:rPr sz="1750" spc="75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F98AC7"/>
                </a:solidFill>
                <a:latin typeface="Cambria"/>
                <a:cs typeface="Cambria"/>
              </a:rPr>
              <a:t>Benefits</a:t>
            </a:r>
            <a:endParaRPr sz="1750">
              <a:latin typeface="Cambria"/>
              <a:cs typeface="Cambria"/>
            </a:endParaRPr>
          </a:p>
          <a:p>
            <a:pPr marL="251460">
              <a:lnSpc>
                <a:spcPct val="100000"/>
              </a:lnSpc>
              <a:spcBef>
                <a:spcPts val="1500"/>
              </a:spcBef>
            </a:pPr>
            <a:r>
              <a:rPr sz="1450" spc="50" dirty="0">
                <a:solidFill>
                  <a:srgbClr val="D5E4EF"/>
                </a:solidFill>
                <a:latin typeface="Cambria"/>
                <a:cs typeface="Cambria"/>
              </a:rPr>
              <a:t>Affordable</a:t>
            </a:r>
            <a:r>
              <a:rPr sz="1450" spc="22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D5E4EF"/>
                </a:solidFill>
                <a:latin typeface="Cambria"/>
                <a:cs typeface="Cambria"/>
              </a:rPr>
              <a:t>Fashion</a:t>
            </a:r>
            <a:r>
              <a:rPr sz="1450" spc="22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Access</a:t>
            </a:r>
            <a:endParaRPr sz="1450">
              <a:latin typeface="Cambria"/>
              <a:cs typeface="Cambria"/>
            </a:endParaRPr>
          </a:p>
          <a:p>
            <a:pPr marL="251460" marR="5080">
              <a:lnSpc>
                <a:spcPct val="135000"/>
              </a:lnSpc>
              <a:spcBef>
                <a:spcPts val="1010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Access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premium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branded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fraction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purchase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prices,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making</a:t>
            </a:r>
            <a:r>
              <a:rPr sz="1250" spc="-1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designer</a:t>
            </a:r>
            <a:r>
              <a:rPr sz="1250" spc="-1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5" dirty="0">
                <a:solidFill>
                  <a:srgbClr val="D5E4EF"/>
                </a:solidFill>
                <a:latin typeface="Tahoma"/>
                <a:cs typeface="Tahoma"/>
              </a:rPr>
              <a:t>outfits</a:t>
            </a:r>
            <a:r>
              <a:rPr sz="1250" spc="-1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financially</a:t>
            </a:r>
            <a:r>
              <a:rPr sz="1250" spc="-1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accessible</a:t>
            </a:r>
            <a:r>
              <a:rPr sz="1250" spc="-1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everyone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250">
              <a:latin typeface="Tahoma"/>
              <a:cs typeface="Tahoma"/>
            </a:endParaRPr>
          </a:p>
          <a:p>
            <a:pPr marL="251460">
              <a:lnSpc>
                <a:spcPct val="100000"/>
              </a:lnSpc>
            </a:pP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Convenient</a:t>
            </a:r>
            <a:r>
              <a:rPr sz="1450" spc="9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75" dirty="0">
                <a:solidFill>
                  <a:srgbClr val="D5E4EF"/>
                </a:solidFill>
                <a:latin typeface="Cambria"/>
                <a:cs typeface="Cambria"/>
              </a:rPr>
              <a:t>Online</a:t>
            </a:r>
            <a:r>
              <a:rPr sz="1450" spc="9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0" dirty="0">
                <a:solidFill>
                  <a:srgbClr val="D5E4EF"/>
                </a:solidFill>
                <a:latin typeface="Cambria"/>
                <a:cs typeface="Cambria"/>
              </a:rPr>
              <a:t>Platform</a:t>
            </a:r>
            <a:endParaRPr sz="1450">
              <a:latin typeface="Cambria"/>
              <a:cs typeface="Cambria"/>
            </a:endParaRPr>
          </a:p>
          <a:p>
            <a:pPr marL="251460" marR="47625">
              <a:lnSpc>
                <a:spcPct val="135000"/>
              </a:lnSpc>
              <a:spcBef>
                <a:spcPts val="935"/>
              </a:spcBef>
            </a:pP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Browse,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select,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rent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entirely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online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from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comfort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of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home,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eliminating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need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physical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store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visits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250">
              <a:latin typeface="Tahoma"/>
              <a:cs typeface="Tahoma"/>
            </a:endParaRPr>
          </a:p>
          <a:p>
            <a:pPr marL="251460">
              <a:lnSpc>
                <a:spcPct val="100000"/>
              </a:lnSpc>
            </a:pPr>
            <a:r>
              <a:rPr sz="1450" spc="105" dirty="0">
                <a:solidFill>
                  <a:srgbClr val="D5E4EF"/>
                </a:solidFill>
                <a:latin typeface="Cambria"/>
                <a:cs typeface="Cambria"/>
              </a:rPr>
              <a:t>Cost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0" dirty="0">
                <a:solidFill>
                  <a:srgbClr val="D5E4EF"/>
                </a:solidFill>
                <a:latin typeface="Cambria"/>
                <a:cs typeface="Cambria"/>
              </a:rPr>
              <a:t>Savings</a:t>
            </a:r>
            <a:endParaRPr sz="1450">
              <a:latin typeface="Cambria"/>
              <a:cs typeface="Cambria"/>
            </a:endParaRPr>
          </a:p>
          <a:p>
            <a:pPr marL="251460" marR="149860">
              <a:lnSpc>
                <a:spcPct val="135000"/>
              </a:lnSpc>
              <a:spcBef>
                <a:spcPts val="935"/>
              </a:spcBef>
            </a:pP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Significant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savings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compared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buying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expensive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5" dirty="0">
                <a:solidFill>
                  <a:srgbClr val="D5E4EF"/>
                </a:solidFill>
                <a:latin typeface="Tahoma"/>
                <a:cs typeface="Tahoma"/>
              </a:rPr>
              <a:t>outfits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that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may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only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be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worn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once,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providing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better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value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money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250">
              <a:latin typeface="Tahoma"/>
              <a:cs typeface="Tahoma"/>
            </a:endParaRPr>
          </a:p>
          <a:p>
            <a:pPr marL="251460">
              <a:lnSpc>
                <a:spcPct val="100000"/>
              </a:lnSpc>
            </a:pPr>
            <a:r>
              <a:rPr sz="1450" spc="55" dirty="0">
                <a:solidFill>
                  <a:srgbClr val="D5E4EF"/>
                </a:solidFill>
                <a:latin typeface="Cambria"/>
                <a:cs typeface="Cambria"/>
              </a:rPr>
              <a:t>Diverse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D5E4EF"/>
                </a:solidFill>
                <a:latin typeface="Cambria"/>
                <a:cs typeface="Cambria"/>
              </a:rPr>
              <a:t>Wardrobe</a:t>
            </a:r>
            <a:endParaRPr sz="1450">
              <a:latin typeface="Cambria"/>
              <a:cs typeface="Cambria"/>
            </a:endParaRPr>
          </a:p>
          <a:p>
            <a:pPr marL="251460" marR="383540">
              <a:lnSpc>
                <a:spcPct val="135000"/>
              </a:lnSpc>
              <a:spcBef>
                <a:spcPts val="1010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Access</a:t>
            </a:r>
            <a:r>
              <a:rPr sz="1250" spc="-12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wide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variety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styles,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brands,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sizes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without</a:t>
            </a:r>
            <a:r>
              <a:rPr sz="1250" spc="-114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the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commitment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ownership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or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storage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requirements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15025" y="1855663"/>
            <a:ext cx="85724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5025" y="3074863"/>
            <a:ext cx="85724" cy="76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15025" y="4294063"/>
            <a:ext cx="85724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15025" y="5770438"/>
            <a:ext cx="85724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906194" y="1286319"/>
            <a:ext cx="4846955" cy="5264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55" dirty="0">
                <a:solidFill>
                  <a:srgbClr val="F98AC7"/>
                </a:solidFill>
                <a:latin typeface="Cambria"/>
                <a:cs typeface="Cambria"/>
              </a:rPr>
              <a:t>Business</a:t>
            </a:r>
            <a:r>
              <a:rPr sz="1750" spc="11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45" dirty="0">
                <a:solidFill>
                  <a:srgbClr val="F98AC7"/>
                </a:solidFill>
                <a:latin typeface="Cambria"/>
                <a:cs typeface="Cambria"/>
              </a:rPr>
              <a:t>Advantages</a:t>
            </a:r>
            <a:endParaRPr sz="1750">
              <a:latin typeface="Cambria"/>
              <a:cs typeface="Cambria"/>
            </a:endParaRPr>
          </a:p>
          <a:p>
            <a:pPr marL="251460">
              <a:lnSpc>
                <a:spcPct val="100000"/>
              </a:lnSpc>
              <a:spcBef>
                <a:spcPts val="1500"/>
              </a:spcBef>
            </a:pPr>
            <a:r>
              <a:rPr sz="1450" spc="55" dirty="0">
                <a:solidFill>
                  <a:srgbClr val="D5E4EF"/>
                </a:solidFill>
                <a:latin typeface="Cambria"/>
                <a:cs typeface="Cambria"/>
              </a:rPr>
              <a:t>Sustainable</a:t>
            </a:r>
            <a:r>
              <a:rPr sz="1450" spc="7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D5E4EF"/>
                </a:solidFill>
                <a:latin typeface="Cambria"/>
                <a:cs typeface="Cambria"/>
              </a:rPr>
              <a:t>Model</a:t>
            </a:r>
            <a:endParaRPr sz="1450">
              <a:latin typeface="Cambria"/>
              <a:cs typeface="Cambria"/>
            </a:endParaRPr>
          </a:p>
          <a:p>
            <a:pPr marL="251460" marR="207645">
              <a:lnSpc>
                <a:spcPct val="135000"/>
              </a:lnSpc>
              <a:spcBef>
                <a:spcPts val="1010"/>
              </a:spcBef>
            </a:pP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Promotes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environmental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sustainability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by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reducing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7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waste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encouraging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reuse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culture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in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fashion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industry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250">
              <a:latin typeface="Tahoma"/>
              <a:cs typeface="Tahoma"/>
            </a:endParaRPr>
          </a:p>
          <a:p>
            <a:pPr marL="251460">
              <a:lnSpc>
                <a:spcPct val="100000"/>
              </a:lnSpc>
            </a:pP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Efficient</a:t>
            </a: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0" dirty="0">
                <a:solidFill>
                  <a:srgbClr val="D5E4EF"/>
                </a:solidFill>
                <a:latin typeface="Cambria"/>
                <a:cs typeface="Cambria"/>
              </a:rPr>
              <a:t>Inventory</a:t>
            </a:r>
            <a:endParaRPr sz="1450">
              <a:latin typeface="Cambria"/>
              <a:cs typeface="Cambria"/>
            </a:endParaRPr>
          </a:p>
          <a:p>
            <a:pPr marL="251460" marR="48895">
              <a:lnSpc>
                <a:spcPct val="135000"/>
              </a:lnSpc>
              <a:spcBef>
                <a:spcPts val="935"/>
              </a:spcBef>
            </a:pP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Centralized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management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maximizing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utilization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and rental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frequency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through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effective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inventory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tracking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250">
              <a:latin typeface="Tahoma"/>
              <a:cs typeface="Tahoma"/>
            </a:endParaRPr>
          </a:p>
          <a:p>
            <a:pPr marL="251460">
              <a:lnSpc>
                <a:spcPct val="100000"/>
              </a:lnSpc>
            </a:pPr>
            <a:r>
              <a:rPr sz="1450" spc="60" dirty="0">
                <a:solidFill>
                  <a:srgbClr val="D5E4EF"/>
                </a:solidFill>
                <a:latin typeface="Cambria"/>
                <a:cs typeface="Cambria"/>
              </a:rPr>
              <a:t>Scalable</a:t>
            </a: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0" dirty="0">
                <a:solidFill>
                  <a:srgbClr val="D5E4EF"/>
                </a:solidFill>
                <a:latin typeface="Cambria"/>
                <a:cs typeface="Cambria"/>
              </a:rPr>
              <a:t>Platform</a:t>
            </a:r>
            <a:endParaRPr sz="1450">
              <a:latin typeface="Cambria"/>
              <a:cs typeface="Cambria"/>
            </a:endParaRPr>
          </a:p>
          <a:p>
            <a:pPr marL="251460" marR="206375">
              <a:lnSpc>
                <a:spcPct val="135000"/>
              </a:lnSpc>
              <a:spcBef>
                <a:spcPts val="935"/>
              </a:spcBef>
            </a:pP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Technology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stack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database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architecture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designed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to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accommodate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growth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as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business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expands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base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increases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250">
              <a:latin typeface="Tahoma"/>
              <a:cs typeface="Tahoma"/>
            </a:endParaRPr>
          </a:p>
          <a:p>
            <a:pPr marL="251460">
              <a:lnSpc>
                <a:spcPct val="100000"/>
              </a:lnSpc>
            </a:pPr>
            <a:r>
              <a:rPr sz="1450" spc="95" dirty="0">
                <a:solidFill>
                  <a:srgbClr val="D5E4EF"/>
                </a:solidFill>
                <a:latin typeface="Cambria"/>
                <a:cs typeface="Cambria"/>
              </a:rPr>
              <a:t>Data-</a:t>
            </a:r>
            <a:r>
              <a:rPr sz="1450" spc="55" dirty="0">
                <a:solidFill>
                  <a:srgbClr val="D5E4EF"/>
                </a:solidFill>
                <a:latin typeface="Cambria"/>
                <a:cs typeface="Cambria"/>
              </a:rPr>
              <a:t>Driven</a:t>
            </a: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D5E4EF"/>
                </a:solidFill>
                <a:latin typeface="Cambria"/>
                <a:cs typeface="Cambria"/>
              </a:rPr>
              <a:t>Insights</a:t>
            </a:r>
            <a:endParaRPr sz="1450">
              <a:latin typeface="Cambria"/>
              <a:cs typeface="Cambria"/>
            </a:endParaRPr>
          </a:p>
          <a:p>
            <a:pPr marL="251460" marR="5080">
              <a:lnSpc>
                <a:spcPct val="130000"/>
              </a:lnSpc>
              <a:spcBef>
                <a:spcPts val="1085"/>
              </a:spcBef>
            </a:pP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Comprehensive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data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collection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enabling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informed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business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decisions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based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on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preferences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patterns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9677400"/>
          </a:xfrm>
          <a:custGeom>
            <a:avLst/>
            <a:gdLst/>
            <a:ahLst/>
            <a:cxnLst/>
            <a:rect l="l" t="t" r="r" b="b"/>
            <a:pathLst>
              <a:path w="11430000" h="9677400">
                <a:moveTo>
                  <a:pt x="11429999" y="9677399"/>
                </a:moveTo>
                <a:lnTo>
                  <a:pt x="0" y="96773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9677399"/>
                </a:lnTo>
                <a:close/>
              </a:path>
            </a:pathLst>
          </a:custGeom>
          <a:solidFill>
            <a:srgbClr val="25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Future</a:t>
            </a:r>
            <a:r>
              <a:rPr spc="140" dirty="0"/>
              <a:t> </a:t>
            </a:r>
            <a:r>
              <a:rPr spc="135" dirty="0"/>
              <a:t>Enhancements </a:t>
            </a:r>
            <a:r>
              <a:rPr dirty="0"/>
              <a:t>&amp;</a:t>
            </a:r>
            <a:r>
              <a:rPr spc="140" dirty="0"/>
              <a:t> </a:t>
            </a:r>
            <a:r>
              <a:rPr spc="13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4879" y="962469"/>
            <a:ext cx="10073005" cy="1006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60" dirty="0">
                <a:solidFill>
                  <a:srgbClr val="F98AC7"/>
                </a:solidFill>
                <a:latin typeface="Cambria"/>
                <a:cs typeface="Cambria"/>
              </a:rPr>
              <a:t>Potential</a:t>
            </a:r>
            <a:r>
              <a:rPr sz="1750" spc="95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F98AC7"/>
                </a:solidFill>
                <a:latin typeface="Cambria"/>
                <a:cs typeface="Cambria"/>
              </a:rPr>
              <a:t>System</a:t>
            </a:r>
            <a:r>
              <a:rPr sz="1750" spc="95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F98AC7"/>
                </a:solidFill>
                <a:latin typeface="Cambria"/>
                <a:cs typeface="Cambria"/>
              </a:rPr>
              <a:t>Improvements</a:t>
            </a:r>
            <a:endParaRPr sz="17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550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Elite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Shoppy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provides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solid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foundation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online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rental,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but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several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enhancements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could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significantly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improve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functionality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and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user</a:t>
            </a:r>
            <a:r>
              <a:rPr sz="1250" spc="-12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experience: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9124" y="2190749"/>
            <a:ext cx="5019675" cy="1447800"/>
            <a:chOff x="619124" y="2190749"/>
            <a:chExt cx="5019675" cy="1447800"/>
          </a:xfrm>
        </p:grpSpPr>
        <p:sp>
          <p:nvSpPr>
            <p:cNvPr id="6" name="object 6"/>
            <p:cNvSpPr/>
            <p:nvPr/>
          </p:nvSpPr>
          <p:spPr>
            <a:xfrm>
              <a:off x="638174" y="2200274"/>
              <a:ext cx="4991100" cy="1428750"/>
            </a:xfrm>
            <a:custGeom>
              <a:avLst/>
              <a:gdLst/>
              <a:ahLst/>
              <a:cxnLst/>
              <a:rect l="l" t="t" r="r" b="b"/>
              <a:pathLst>
                <a:path w="4991100" h="1428750">
                  <a:moveTo>
                    <a:pt x="4983571" y="1428749"/>
                  </a:moveTo>
                  <a:lnTo>
                    <a:pt x="71196" y="1428749"/>
                  </a:lnTo>
                  <a:lnTo>
                    <a:pt x="66241" y="1428322"/>
                  </a:lnTo>
                  <a:lnTo>
                    <a:pt x="29705" y="1415080"/>
                  </a:lnTo>
                  <a:lnTo>
                    <a:pt x="3885" y="1383545"/>
                  </a:lnTo>
                  <a:lnTo>
                    <a:pt x="0" y="1366452"/>
                  </a:lnTo>
                  <a:lnTo>
                    <a:pt x="0" y="1362074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83571" y="0"/>
                  </a:lnTo>
                  <a:lnTo>
                    <a:pt x="4986022" y="1015"/>
                  </a:lnTo>
                  <a:lnTo>
                    <a:pt x="4990083" y="5076"/>
                  </a:lnTo>
                  <a:lnTo>
                    <a:pt x="4991099" y="7527"/>
                  </a:lnTo>
                  <a:lnTo>
                    <a:pt x="4991099" y="1421222"/>
                  </a:lnTo>
                  <a:lnTo>
                    <a:pt x="4990083" y="1423673"/>
                  </a:lnTo>
                  <a:lnTo>
                    <a:pt x="4986022" y="1427734"/>
                  </a:lnTo>
                  <a:lnTo>
                    <a:pt x="4983571" y="142874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9013" y="2190749"/>
              <a:ext cx="4999990" cy="1447800"/>
            </a:xfrm>
            <a:custGeom>
              <a:avLst/>
              <a:gdLst/>
              <a:ahLst/>
              <a:cxnLst/>
              <a:rect l="l" t="t" r="r" b="b"/>
              <a:pathLst>
                <a:path w="4999990" h="1447800">
                  <a:moveTo>
                    <a:pt x="4999774" y="14427"/>
                  </a:moveTo>
                  <a:lnTo>
                    <a:pt x="4997831" y="9728"/>
                  </a:lnTo>
                  <a:lnTo>
                    <a:pt x="4994414" y="6311"/>
                  </a:lnTo>
                  <a:lnTo>
                    <a:pt x="4993945" y="5842"/>
                  </a:lnTo>
                  <a:lnTo>
                    <a:pt x="4990058" y="1955"/>
                  </a:lnTo>
                  <a:lnTo>
                    <a:pt x="4985359" y="0"/>
                  </a:lnTo>
                  <a:lnTo>
                    <a:pt x="75349" y="0"/>
                  </a:lnTo>
                  <a:lnTo>
                    <a:pt x="33007" y="12839"/>
                  </a:lnTo>
                  <a:lnTo>
                    <a:pt x="4953" y="47040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0444" y="19050"/>
                  </a:lnTo>
                  <a:lnTo>
                    <a:pt x="4980584" y="19202"/>
                  </a:lnTo>
                  <a:lnTo>
                    <a:pt x="4980711" y="19329"/>
                  </a:lnTo>
                  <a:lnTo>
                    <a:pt x="4980711" y="20002"/>
                  </a:lnTo>
                  <a:lnTo>
                    <a:pt x="4980584" y="1428610"/>
                  </a:lnTo>
                  <a:lnTo>
                    <a:pt x="4980444" y="1428750"/>
                  </a:lnTo>
                  <a:lnTo>
                    <a:pt x="75349" y="1428750"/>
                  </a:lnTo>
                  <a:lnTo>
                    <a:pt x="33007" y="1419136"/>
                  </a:lnTo>
                  <a:lnTo>
                    <a:pt x="1092" y="1386471"/>
                  </a:lnTo>
                  <a:lnTo>
                    <a:pt x="0" y="1382356"/>
                  </a:lnTo>
                  <a:lnTo>
                    <a:pt x="609" y="1386471"/>
                  </a:lnTo>
                  <a:lnTo>
                    <a:pt x="21475" y="1425486"/>
                  </a:lnTo>
                  <a:lnTo>
                    <a:pt x="60490" y="1446352"/>
                  </a:lnTo>
                  <a:lnTo>
                    <a:pt x="75349" y="1447800"/>
                  </a:lnTo>
                  <a:lnTo>
                    <a:pt x="4985359" y="1447800"/>
                  </a:lnTo>
                  <a:lnTo>
                    <a:pt x="4990058" y="1445856"/>
                  </a:lnTo>
                  <a:lnTo>
                    <a:pt x="4993932" y="1441970"/>
                  </a:lnTo>
                  <a:lnTo>
                    <a:pt x="4997831" y="1438084"/>
                  </a:lnTo>
                  <a:lnTo>
                    <a:pt x="4999774" y="1433385"/>
                  </a:lnTo>
                  <a:lnTo>
                    <a:pt x="4999774" y="14427"/>
                  </a:lnTo>
                  <a:close/>
                </a:path>
              </a:pathLst>
            </a:custGeom>
            <a:solidFill>
              <a:srgbClr val="5C6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4" y="2190749"/>
              <a:ext cx="76200" cy="14477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60474" y="2343023"/>
            <a:ext cx="4275455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75" dirty="0">
                <a:solidFill>
                  <a:srgbClr val="D5E4EF"/>
                </a:solidFill>
                <a:latin typeface="Cambria"/>
                <a:cs typeface="Cambria"/>
              </a:rPr>
              <a:t>Online</a:t>
            </a:r>
            <a:r>
              <a:rPr sz="1450" spc="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60" dirty="0">
                <a:solidFill>
                  <a:srgbClr val="D5E4EF"/>
                </a:solidFill>
                <a:latin typeface="Cambria"/>
                <a:cs typeface="Cambria"/>
              </a:rPr>
              <a:t>Payment</a:t>
            </a:r>
            <a:r>
              <a:rPr sz="1450" spc="8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D5E4EF"/>
                </a:solidFill>
                <a:latin typeface="Cambria"/>
                <a:cs typeface="Cambria"/>
              </a:rPr>
              <a:t>Integration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Implement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secure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payment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gateways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allowing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to complete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transactions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directly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through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using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credit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cards,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digital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wallets,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or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other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payment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methods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72149" y="2190749"/>
            <a:ext cx="5019675" cy="1447800"/>
            <a:chOff x="5772149" y="2190749"/>
            <a:chExt cx="5019675" cy="1447800"/>
          </a:xfrm>
        </p:grpSpPr>
        <p:sp>
          <p:nvSpPr>
            <p:cNvPr id="11" name="object 11"/>
            <p:cNvSpPr/>
            <p:nvPr/>
          </p:nvSpPr>
          <p:spPr>
            <a:xfrm>
              <a:off x="5791198" y="2200274"/>
              <a:ext cx="4991100" cy="1428750"/>
            </a:xfrm>
            <a:custGeom>
              <a:avLst/>
              <a:gdLst/>
              <a:ahLst/>
              <a:cxnLst/>
              <a:rect l="l" t="t" r="r" b="b"/>
              <a:pathLst>
                <a:path w="4991100" h="1428750">
                  <a:moveTo>
                    <a:pt x="4983571" y="1428749"/>
                  </a:moveTo>
                  <a:lnTo>
                    <a:pt x="71196" y="1428749"/>
                  </a:lnTo>
                  <a:lnTo>
                    <a:pt x="66241" y="1428322"/>
                  </a:lnTo>
                  <a:lnTo>
                    <a:pt x="29705" y="1415080"/>
                  </a:lnTo>
                  <a:lnTo>
                    <a:pt x="3885" y="1383545"/>
                  </a:lnTo>
                  <a:lnTo>
                    <a:pt x="0" y="1366452"/>
                  </a:lnTo>
                  <a:lnTo>
                    <a:pt x="0" y="1362074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83571" y="0"/>
                  </a:lnTo>
                  <a:lnTo>
                    <a:pt x="4986022" y="1015"/>
                  </a:lnTo>
                  <a:lnTo>
                    <a:pt x="4990083" y="5076"/>
                  </a:lnTo>
                  <a:lnTo>
                    <a:pt x="4991099" y="7527"/>
                  </a:lnTo>
                  <a:lnTo>
                    <a:pt x="4991099" y="1421222"/>
                  </a:lnTo>
                  <a:lnTo>
                    <a:pt x="4990083" y="1423673"/>
                  </a:lnTo>
                  <a:lnTo>
                    <a:pt x="4986022" y="1427734"/>
                  </a:lnTo>
                  <a:lnTo>
                    <a:pt x="4983571" y="142874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92038" y="2190749"/>
              <a:ext cx="4999990" cy="1447800"/>
            </a:xfrm>
            <a:custGeom>
              <a:avLst/>
              <a:gdLst/>
              <a:ahLst/>
              <a:cxnLst/>
              <a:rect l="l" t="t" r="r" b="b"/>
              <a:pathLst>
                <a:path w="4999990" h="1447800">
                  <a:moveTo>
                    <a:pt x="4999774" y="14427"/>
                  </a:moveTo>
                  <a:lnTo>
                    <a:pt x="4997831" y="9728"/>
                  </a:lnTo>
                  <a:lnTo>
                    <a:pt x="4994414" y="6324"/>
                  </a:lnTo>
                  <a:lnTo>
                    <a:pt x="4993945" y="5842"/>
                  </a:lnTo>
                  <a:lnTo>
                    <a:pt x="4990058" y="1955"/>
                  </a:lnTo>
                  <a:lnTo>
                    <a:pt x="4985359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0444" y="19050"/>
                  </a:lnTo>
                  <a:lnTo>
                    <a:pt x="4980584" y="19202"/>
                  </a:lnTo>
                  <a:lnTo>
                    <a:pt x="4980711" y="19329"/>
                  </a:lnTo>
                  <a:lnTo>
                    <a:pt x="4980711" y="20002"/>
                  </a:lnTo>
                  <a:lnTo>
                    <a:pt x="4980584" y="1428610"/>
                  </a:lnTo>
                  <a:lnTo>
                    <a:pt x="4980444" y="1428750"/>
                  </a:lnTo>
                  <a:lnTo>
                    <a:pt x="75349" y="1428750"/>
                  </a:lnTo>
                  <a:lnTo>
                    <a:pt x="33007" y="1419136"/>
                  </a:lnTo>
                  <a:lnTo>
                    <a:pt x="1092" y="1386471"/>
                  </a:lnTo>
                  <a:lnTo>
                    <a:pt x="0" y="1382356"/>
                  </a:lnTo>
                  <a:lnTo>
                    <a:pt x="609" y="1386471"/>
                  </a:lnTo>
                  <a:lnTo>
                    <a:pt x="21475" y="1425486"/>
                  </a:lnTo>
                  <a:lnTo>
                    <a:pt x="60490" y="1446352"/>
                  </a:lnTo>
                  <a:lnTo>
                    <a:pt x="75349" y="1447800"/>
                  </a:lnTo>
                  <a:lnTo>
                    <a:pt x="4985359" y="1447800"/>
                  </a:lnTo>
                  <a:lnTo>
                    <a:pt x="4990058" y="1445856"/>
                  </a:lnTo>
                  <a:lnTo>
                    <a:pt x="4993932" y="1441970"/>
                  </a:lnTo>
                  <a:lnTo>
                    <a:pt x="4997831" y="1438084"/>
                  </a:lnTo>
                  <a:lnTo>
                    <a:pt x="4999774" y="1433385"/>
                  </a:lnTo>
                  <a:lnTo>
                    <a:pt x="4999774" y="14427"/>
                  </a:lnTo>
                  <a:close/>
                </a:path>
              </a:pathLst>
            </a:custGeom>
            <a:solidFill>
              <a:srgbClr val="5C6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2149" y="2190749"/>
              <a:ext cx="76200" cy="14477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017517" y="2343023"/>
            <a:ext cx="4568190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65" dirty="0">
                <a:solidFill>
                  <a:srgbClr val="D5E4EF"/>
                </a:solidFill>
                <a:latin typeface="Cambria"/>
                <a:cs typeface="Cambria"/>
              </a:rPr>
              <a:t>Mobile </a:t>
            </a:r>
            <a:r>
              <a:rPr sz="1450" spc="50" dirty="0">
                <a:solidFill>
                  <a:srgbClr val="D5E4EF"/>
                </a:solidFill>
                <a:latin typeface="Cambria"/>
                <a:cs typeface="Cambria"/>
              </a:rPr>
              <a:t>Responsive</a:t>
            </a:r>
            <a:r>
              <a:rPr sz="1450" spc="7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60" dirty="0">
                <a:solidFill>
                  <a:srgbClr val="D5E4EF"/>
                </a:solidFill>
                <a:latin typeface="Cambria"/>
                <a:cs typeface="Cambria"/>
              </a:rPr>
              <a:t>Design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Enhance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mobile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experience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fully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responsive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interface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optimized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smartphones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tablets,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enabling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on-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the-</a:t>
            </a:r>
            <a:r>
              <a:rPr sz="1250" spc="-50" dirty="0">
                <a:solidFill>
                  <a:srgbClr val="D5E4EF"/>
                </a:solidFill>
                <a:latin typeface="Tahoma"/>
                <a:cs typeface="Tahoma"/>
              </a:rPr>
              <a:t>go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browsing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and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renting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4" y="3800474"/>
            <a:ext cx="5019675" cy="1447800"/>
            <a:chOff x="619124" y="3800474"/>
            <a:chExt cx="5019675" cy="1447800"/>
          </a:xfrm>
        </p:grpSpPr>
        <p:sp>
          <p:nvSpPr>
            <p:cNvPr id="16" name="object 16"/>
            <p:cNvSpPr/>
            <p:nvPr/>
          </p:nvSpPr>
          <p:spPr>
            <a:xfrm>
              <a:off x="638174" y="3809999"/>
              <a:ext cx="4991100" cy="1428750"/>
            </a:xfrm>
            <a:custGeom>
              <a:avLst/>
              <a:gdLst/>
              <a:ahLst/>
              <a:cxnLst/>
              <a:rect l="l" t="t" r="r" b="b"/>
              <a:pathLst>
                <a:path w="4991100" h="1428750">
                  <a:moveTo>
                    <a:pt x="4983571" y="1428749"/>
                  </a:moveTo>
                  <a:lnTo>
                    <a:pt x="71196" y="1428749"/>
                  </a:lnTo>
                  <a:lnTo>
                    <a:pt x="29705" y="1415080"/>
                  </a:lnTo>
                  <a:lnTo>
                    <a:pt x="3885" y="1383545"/>
                  </a:lnTo>
                  <a:lnTo>
                    <a:pt x="0" y="1366452"/>
                  </a:lnTo>
                  <a:lnTo>
                    <a:pt x="0" y="1362074"/>
                  </a:lnTo>
                  <a:lnTo>
                    <a:pt x="0" y="62297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83571" y="0"/>
                  </a:lnTo>
                  <a:lnTo>
                    <a:pt x="4986022" y="1015"/>
                  </a:lnTo>
                  <a:lnTo>
                    <a:pt x="4990083" y="5076"/>
                  </a:lnTo>
                  <a:lnTo>
                    <a:pt x="4991099" y="7527"/>
                  </a:lnTo>
                  <a:lnTo>
                    <a:pt x="4991099" y="1421221"/>
                  </a:lnTo>
                  <a:lnTo>
                    <a:pt x="4990083" y="1423672"/>
                  </a:lnTo>
                  <a:lnTo>
                    <a:pt x="4986022" y="1427734"/>
                  </a:lnTo>
                  <a:lnTo>
                    <a:pt x="4983571" y="142874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9013" y="3800474"/>
              <a:ext cx="4999990" cy="1447800"/>
            </a:xfrm>
            <a:custGeom>
              <a:avLst/>
              <a:gdLst/>
              <a:ahLst/>
              <a:cxnLst/>
              <a:rect l="l" t="t" r="r" b="b"/>
              <a:pathLst>
                <a:path w="4999990" h="1447800">
                  <a:moveTo>
                    <a:pt x="4999774" y="14427"/>
                  </a:moveTo>
                  <a:lnTo>
                    <a:pt x="4997831" y="9728"/>
                  </a:lnTo>
                  <a:lnTo>
                    <a:pt x="4994414" y="6311"/>
                  </a:lnTo>
                  <a:lnTo>
                    <a:pt x="4993945" y="5842"/>
                  </a:lnTo>
                  <a:lnTo>
                    <a:pt x="4990058" y="1955"/>
                  </a:lnTo>
                  <a:lnTo>
                    <a:pt x="4985359" y="0"/>
                  </a:lnTo>
                  <a:lnTo>
                    <a:pt x="75349" y="0"/>
                  </a:lnTo>
                  <a:lnTo>
                    <a:pt x="33007" y="12839"/>
                  </a:lnTo>
                  <a:lnTo>
                    <a:pt x="4953" y="47040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0444" y="19050"/>
                  </a:lnTo>
                  <a:lnTo>
                    <a:pt x="4980584" y="19202"/>
                  </a:lnTo>
                  <a:lnTo>
                    <a:pt x="4980711" y="19329"/>
                  </a:lnTo>
                  <a:lnTo>
                    <a:pt x="4980711" y="20002"/>
                  </a:lnTo>
                  <a:lnTo>
                    <a:pt x="4980584" y="1428610"/>
                  </a:lnTo>
                  <a:lnTo>
                    <a:pt x="4980444" y="1428750"/>
                  </a:lnTo>
                  <a:lnTo>
                    <a:pt x="75349" y="1428750"/>
                  </a:lnTo>
                  <a:lnTo>
                    <a:pt x="33007" y="1419136"/>
                  </a:lnTo>
                  <a:lnTo>
                    <a:pt x="1092" y="1386471"/>
                  </a:lnTo>
                  <a:lnTo>
                    <a:pt x="0" y="1382356"/>
                  </a:lnTo>
                  <a:lnTo>
                    <a:pt x="609" y="1386471"/>
                  </a:lnTo>
                  <a:lnTo>
                    <a:pt x="21475" y="1425486"/>
                  </a:lnTo>
                  <a:lnTo>
                    <a:pt x="60490" y="1446352"/>
                  </a:lnTo>
                  <a:lnTo>
                    <a:pt x="75349" y="1447800"/>
                  </a:lnTo>
                  <a:lnTo>
                    <a:pt x="4985359" y="1447800"/>
                  </a:lnTo>
                  <a:lnTo>
                    <a:pt x="4990058" y="1445856"/>
                  </a:lnTo>
                  <a:lnTo>
                    <a:pt x="4993932" y="1441970"/>
                  </a:lnTo>
                  <a:lnTo>
                    <a:pt x="4997831" y="1438084"/>
                  </a:lnTo>
                  <a:lnTo>
                    <a:pt x="4999774" y="1433385"/>
                  </a:lnTo>
                  <a:lnTo>
                    <a:pt x="4999774" y="14427"/>
                  </a:lnTo>
                  <a:close/>
                </a:path>
              </a:pathLst>
            </a:custGeom>
            <a:solidFill>
              <a:srgbClr val="5C6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124" y="3800474"/>
              <a:ext cx="76200" cy="14477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60474" y="3952747"/>
            <a:ext cx="4586605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80" dirty="0">
                <a:solidFill>
                  <a:srgbClr val="D5E4EF"/>
                </a:solidFill>
                <a:latin typeface="Cambria"/>
                <a:cs typeface="Cambria"/>
              </a:rPr>
              <a:t>User</a:t>
            </a:r>
            <a:r>
              <a:rPr sz="1450" spc="16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D5E4EF"/>
                </a:solidFill>
                <a:latin typeface="Cambria"/>
                <a:cs typeface="Cambria"/>
              </a:rPr>
              <a:t>Reviews</a:t>
            </a:r>
            <a:r>
              <a:rPr sz="1450" spc="1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D5E4EF"/>
                </a:solidFill>
                <a:latin typeface="Cambria"/>
                <a:cs typeface="Cambria"/>
              </a:rPr>
              <a:t>&amp;</a:t>
            </a:r>
            <a:r>
              <a:rPr sz="1450" spc="1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0" dirty="0">
                <a:solidFill>
                  <a:srgbClr val="D5E4EF"/>
                </a:solidFill>
                <a:latin typeface="Cambria"/>
                <a:cs typeface="Cambria"/>
              </a:rPr>
              <a:t>Ratings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Add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feedback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allowing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users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review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rented</a:t>
            </a:r>
            <a:r>
              <a:rPr sz="1250" spc="-11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items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rate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their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experience,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building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trust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helping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future</a:t>
            </a:r>
            <a:r>
              <a:rPr sz="1250" spc="5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make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informed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decisions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72149" y="3800474"/>
            <a:ext cx="5019675" cy="1447800"/>
            <a:chOff x="5772149" y="3800474"/>
            <a:chExt cx="5019675" cy="1447800"/>
          </a:xfrm>
        </p:grpSpPr>
        <p:sp>
          <p:nvSpPr>
            <p:cNvPr id="21" name="object 21"/>
            <p:cNvSpPr/>
            <p:nvPr/>
          </p:nvSpPr>
          <p:spPr>
            <a:xfrm>
              <a:off x="5791198" y="3809999"/>
              <a:ext cx="4991100" cy="1428750"/>
            </a:xfrm>
            <a:custGeom>
              <a:avLst/>
              <a:gdLst/>
              <a:ahLst/>
              <a:cxnLst/>
              <a:rect l="l" t="t" r="r" b="b"/>
              <a:pathLst>
                <a:path w="4991100" h="1428750">
                  <a:moveTo>
                    <a:pt x="4983571" y="1428749"/>
                  </a:moveTo>
                  <a:lnTo>
                    <a:pt x="71196" y="1428749"/>
                  </a:lnTo>
                  <a:lnTo>
                    <a:pt x="29705" y="1415080"/>
                  </a:lnTo>
                  <a:lnTo>
                    <a:pt x="3885" y="1383545"/>
                  </a:lnTo>
                  <a:lnTo>
                    <a:pt x="0" y="1366452"/>
                  </a:lnTo>
                  <a:lnTo>
                    <a:pt x="0" y="1362074"/>
                  </a:lnTo>
                  <a:lnTo>
                    <a:pt x="0" y="62297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83571" y="0"/>
                  </a:lnTo>
                  <a:lnTo>
                    <a:pt x="4986022" y="1015"/>
                  </a:lnTo>
                  <a:lnTo>
                    <a:pt x="4990083" y="5076"/>
                  </a:lnTo>
                  <a:lnTo>
                    <a:pt x="4991099" y="7527"/>
                  </a:lnTo>
                  <a:lnTo>
                    <a:pt x="4991099" y="1421221"/>
                  </a:lnTo>
                  <a:lnTo>
                    <a:pt x="4990083" y="1423672"/>
                  </a:lnTo>
                  <a:lnTo>
                    <a:pt x="4986022" y="1427734"/>
                  </a:lnTo>
                  <a:lnTo>
                    <a:pt x="4983571" y="142874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2038" y="3800474"/>
              <a:ext cx="4999990" cy="1447800"/>
            </a:xfrm>
            <a:custGeom>
              <a:avLst/>
              <a:gdLst/>
              <a:ahLst/>
              <a:cxnLst/>
              <a:rect l="l" t="t" r="r" b="b"/>
              <a:pathLst>
                <a:path w="4999990" h="1447800">
                  <a:moveTo>
                    <a:pt x="4999774" y="14427"/>
                  </a:moveTo>
                  <a:lnTo>
                    <a:pt x="4997831" y="9728"/>
                  </a:lnTo>
                  <a:lnTo>
                    <a:pt x="4994414" y="6324"/>
                  </a:lnTo>
                  <a:lnTo>
                    <a:pt x="4993945" y="5842"/>
                  </a:lnTo>
                  <a:lnTo>
                    <a:pt x="4990058" y="1955"/>
                  </a:lnTo>
                  <a:lnTo>
                    <a:pt x="4985359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0444" y="19050"/>
                  </a:lnTo>
                  <a:lnTo>
                    <a:pt x="4980584" y="19202"/>
                  </a:lnTo>
                  <a:lnTo>
                    <a:pt x="4980711" y="19329"/>
                  </a:lnTo>
                  <a:lnTo>
                    <a:pt x="4980711" y="20002"/>
                  </a:lnTo>
                  <a:lnTo>
                    <a:pt x="4980584" y="1428610"/>
                  </a:lnTo>
                  <a:lnTo>
                    <a:pt x="4980444" y="1428750"/>
                  </a:lnTo>
                  <a:lnTo>
                    <a:pt x="75349" y="1428750"/>
                  </a:lnTo>
                  <a:lnTo>
                    <a:pt x="33007" y="1419136"/>
                  </a:lnTo>
                  <a:lnTo>
                    <a:pt x="1092" y="1386471"/>
                  </a:lnTo>
                  <a:lnTo>
                    <a:pt x="0" y="1382356"/>
                  </a:lnTo>
                  <a:lnTo>
                    <a:pt x="609" y="1386471"/>
                  </a:lnTo>
                  <a:lnTo>
                    <a:pt x="21475" y="1425486"/>
                  </a:lnTo>
                  <a:lnTo>
                    <a:pt x="60490" y="1446352"/>
                  </a:lnTo>
                  <a:lnTo>
                    <a:pt x="75349" y="1447800"/>
                  </a:lnTo>
                  <a:lnTo>
                    <a:pt x="4985359" y="1447800"/>
                  </a:lnTo>
                  <a:lnTo>
                    <a:pt x="4990058" y="1445856"/>
                  </a:lnTo>
                  <a:lnTo>
                    <a:pt x="4993932" y="1441970"/>
                  </a:lnTo>
                  <a:lnTo>
                    <a:pt x="4997831" y="1438084"/>
                  </a:lnTo>
                  <a:lnTo>
                    <a:pt x="4999774" y="1433385"/>
                  </a:lnTo>
                  <a:lnTo>
                    <a:pt x="4999774" y="1428750"/>
                  </a:lnTo>
                  <a:lnTo>
                    <a:pt x="4999774" y="14427"/>
                  </a:lnTo>
                  <a:close/>
                </a:path>
              </a:pathLst>
            </a:custGeom>
            <a:solidFill>
              <a:srgbClr val="5C6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2149" y="3800474"/>
              <a:ext cx="76200" cy="144779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017517" y="3952747"/>
            <a:ext cx="4211955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50" dirty="0">
                <a:solidFill>
                  <a:srgbClr val="D5E4EF"/>
                </a:solidFill>
                <a:latin typeface="Cambria"/>
                <a:cs typeface="Cambria"/>
              </a:rPr>
              <a:t>Delivery</a:t>
            </a:r>
            <a:r>
              <a:rPr sz="1450" spc="7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D5E4EF"/>
                </a:solidFill>
                <a:latin typeface="Cambria"/>
                <a:cs typeface="Cambria"/>
              </a:rPr>
              <a:t>&amp;</a:t>
            </a:r>
            <a:r>
              <a:rPr sz="1450" spc="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D5E4EF"/>
                </a:solidFill>
                <a:latin typeface="Cambria"/>
                <a:cs typeface="Cambria"/>
              </a:rPr>
              <a:t>Return</a:t>
            </a:r>
            <a:r>
              <a:rPr sz="1450" spc="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D5E4EF"/>
                </a:solidFill>
                <a:latin typeface="Cambria"/>
                <a:cs typeface="Cambria"/>
              </a:rPr>
              <a:t>Tracking</a:t>
            </a:r>
            <a:endParaRPr sz="14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Implement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real-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time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tracking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delivery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return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processes,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providing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with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visibility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into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their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order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status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and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estimated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timelines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8174" y="5507198"/>
            <a:ext cx="10153650" cy="28575"/>
            <a:chOff x="638174" y="5507198"/>
            <a:chExt cx="10153650" cy="28575"/>
          </a:xfrm>
        </p:grpSpPr>
        <p:sp>
          <p:nvSpPr>
            <p:cNvPr id="26" name="object 26"/>
            <p:cNvSpPr/>
            <p:nvPr/>
          </p:nvSpPr>
          <p:spPr>
            <a:xfrm>
              <a:off x="638174" y="5507198"/>
              <a:ext cx="10153650" cy="28575"/>
            </a:xfrm>
            <a:custGeom>
              <a:avLst/>
              <a:gdLst/>
              <a:ahLst/>
              <a:cxnLst/>
              <a:rect l="l" t="t" r="r" b="b"/>
              <a:pathLst>
                <a:path w="10153650" h="28575">
                  <a:moveTo>
                    <a:pt x="1015364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0153649" y="0"/>
                  </a:lnTo>
                  <a:lnTo>
                    <a:pt x="10153649" y="28574"/>
                  </a:lnTo>
                  <a:close/>
                </a:path>
              </a:pathLst>
            </a:custGeom>
            <a:solidFill>
              <a:srgbClr val="D5E4E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174" y="5526248"/>
              <a:ext cx="10153650" cy="9525"/>
            </a:xfrm>
            <a:custGeom>
              <a:avLst/>
              <a:gdLst/>
              <a:ahLst/>
              <a:cxnLst/>
              <a:rect l="l" t="t" r="r" b="b"/>
              <a:pathLst>
                <a:path w="10153650" h="9525">
                  <a:moveTo>
                    <a:pt x="10153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53649" y="0"/>
                  </a:lnTo>
                  <a:lnTo>
                    <a:pt x="101536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38174" y="7934324"/>
            <a:ext cx="19050" cy="866775"/>
            <a:chOff x="638174" y="7934324"/>
            <a:chExt cx="19050" cy="866775"/>
          </a:xfrm>
        </p:grpSpPr>
        <p:sp>
          <p:nvSpPr>
            <p:cNvPr id="29" name="object 29"/>
            <p:cNvSpPr/>
            <p:nvPr/>
          </p:nvSpPr>
          <p:spPr>
            <a:xfrm>
              <a:off x="638174" y="7934324"/>
              <a:ext cx="19050" cy="866775"/>
            </a:xfrm>
            <a:custGeom>
              <a:avLst/>
              <a:gdLst/>
              <a:ahLst/>
              <a:cxnLst/>
              <a:rect l="l" t="t" r="r" b="b"/>
              <a:pathLst>
                <a:path w="19050" h="866775">
                  <a:moveTo>
                    <a:pt x="19049" y="866774"/>
                  </a:moveTo>
                  <a:lnTo>
                    <a:pt x="0" y="866774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866774"/>
                  </a:lnTo>
                  <a:close/>
                </a:path>
              </a:pathLst>
            </a:custGeom>
            <a:solidFill>
              <a:srgbClr val="F98A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174" y="7934324"/>
              <a:ext cx="19049" cy="86677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24879" y="5753544"/>
            <a:ext cx="10172700" cy="3444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70" dirty="0">
                <a:solidFill>
                  <a:srgbClr val="F98AC7"/>
                </a:solidFill>
                <a:latin typeface="Cambria"/>
                <a:cs typeface="Cambria"/>
              </a:rPr>
              <a:t>Project</a:t>
            </a:r>
            <a:r>
              <a:rPr sz="1750" spc="11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F98AC7"/>
                </a:solidFill>
                <a:latin typeface="Cambria"/>
                <a:cs typeface="Cambria"/>
              </a:rPr>
              <a:t>Conclusion</a:t>
            </a:r>
            <a:endParaRPr sz="1750">
              <a:latin typeface="Cambria"/>
              <a:cs typeface="Cambria"/>
            </a:endParaRPr>
          </a:p>
          <a:p>
            <a:pPr marL="12700" marR="276225">
              <a:lnSpc>
                <a:spcPct val="135000"/>
              </a:lnSpc>
              <a:spcBef>
                <a:spcPts val="1625"/>
              </a:spcBef>
            </a:pP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Elite</a:t>
            </a:r>
            <a:r>
              <a:rPr sz="1250" spc="-10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Shoppy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successfully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demonstrates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practical,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efficient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solution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online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rental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that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benefits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both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customers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10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administrators.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The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system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provides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convenient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access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fashionable,</a:t>
            </a:r>
            <a:r>
              <a:rPr sz="1250" spc="-8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branded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clothing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at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affordable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prices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while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promoting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sustainable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fashion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practices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through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rental culture.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350"/>
              </a:spcBef>
            </a:pPr>
            <a:r>
              <a:rPr sz="1250" spc="-55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comprehensive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administrative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panel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enables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5E4EF"/>
                </a:solidFill>
                <a:latin typeface="Tahoma"/>
                <a:cs typeface="Tahoma"/>
              </a:rPr>
              <a:t>efficient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management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of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all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operations,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from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product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catalog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maintenance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to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order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processing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customer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relationship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0" dirty="0">
                <a:solidFill>
                  <a:srgbClr val="D5E4EF"/>
                </a:solidFill>
                <a:latin typeface="Tahoma"/>
                <a:cs typeface="Tahoma"/>
              </a:rPr>
              <a:t>management.</a:t>
            </a:r>
            <a:r>
              <a:rPr sz="1250" spc="-8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5E4EF"/>
                </a:solidFill>
                <a:latin typeface="Tahoma"/>
                <a:cs typeface="Tahoma"/>
              </a:rPr>
              <a:t>Built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using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industry-standard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technologies,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the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platform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45" dirty="0">
                <a:solidFill>
                  <a:srgbClr val="D5E4EF"/>
                </a:solidFill>
                <a:latin typeface="Tahoma"/>
                <a:cs typeface="Tahoma"/>
              </a:rPr>
              <a:t>offers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scalability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5E4EF"/>
                </a:solidFill>
                <a:latin typeface="Tahoma"/>
                <a:cs typeface="Tahoma"/>
              </a:rPr>
              <a:t>and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maintainability</a:t>
            </a:r>
            <a:r>
              <a:rPr sz="1250" spc="-90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0" dirty="0">
                <a:solidFill>
                  <a:srgbClr val="D5E4EF"/>
                </a:solidFill>
                <a:latin typeface="Tahoma"/>
                <a:cs typeface="Tahoma"/>
              </a:rPr>
              <a:t>for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35" dirty="0">
                <a:solidFill>
                  <a:srgbClr val="D5E4EF"/>
                </a:solidFill>
                <a:latin typeface="Tahoma"/>
                <a:cs typeface="Tahoma"/>
              </a:rPr>
              <a:t>future</a:t>
            </a:r>
            <a:r>
              <a:rPr sz="1250" spc="-95" dirty="0">
                <a:solidFill>
                  <a:srgbClr val="D5E4EF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5E4EF"/>
                </a:solidFill>
                <a:latin typeface="Tahoma"/>
                <a:cs typeface="Tahoma"/>
              </a:rPr>
              <a:t>growth.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250">
              <a:latin typeface="Tahoma"/>
              <a:cs typeface="Tahoma"/>
            </a:endParaRPr>
          </a:p>
          <a:p>
            <a:pPr marL="251460" marR="353695">
              <a:lnSpc>
                <a:spcPct val="129800"/>
              </a:lnSpc>
            </a:pPr>
            <a:r>
              <a:rPr sz="1300" i="1" spc="-35" dirty="0">
                <a:solidFill>
                  <a:srgbClr val="D5E4EF"/>
                </a:solidFill>
                <a:latin typeface="Arial"/>
                <a:cs typeface="Arial"/>
              </a:rPr>
              <a:t>"Elite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80" dirty="0">
                <a:solidFill>
                  <a:srgbClr val="D5E4EF"/>
                </a:solidFill>
                <a:latin typeface="Arial"/>
                <a:cs typeface="Arial"/>
              </a:rPr>
              <a:t>Shoppy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75" dirty="0">
                <a:solidFill>
                  <a:srgbClr val="D5E4EF"/>
                </a:solidFill>
                <a:latin typeface="Arial"/>
                <a:cs typeface="Arial"/>
              </a:rPr>
              <a:t>represents</a:t>
            </a:r>
            <a:r>
              <a:rPr sz="1300" i="1" spc="-55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100" dirty="0">
                <a:solidFill>
                  <a:srgbClr val="D5E4EF"/>
                </a:solidFill>
                <a:latin typeface="Arial"/>
                <a:cs typeface="Arial"/>
              </a:rPr>
              <a:t>a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modern </a:t>
            </a:r>
            <a:r>
              <a:rPr sz="1300" i="1" spc="-70" dirty="0">
                <a:solidFill>
                  <a:srgbClr val="D5E4EF"/>
                </a:solidFill>
                <a:latin typeface="Arial"/>
                <a:cs typeface="Arial"/>
              </a:rPr>
              <a:t>approach</a:t>
            </a:r>
            <a:r>
              <a:rPr sz="1300" i="1" spc="-55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D5E4EF"/>
                </a:solidFill>
                <a:latin typeface="Arial"/>
                <a:cs typeface="Arial"/>
              </a:rPr>
              <a:t>to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65" dirty="0">
                <a:solidFill>
                  <a:srgbClr val="D5E4EF"/>
                </a:solidFill>
                <a:latin typeface="Arial"/>
                <a:cs typeface="Arial"/>
              </a:rPr>
              <a:t>fashion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55" dirty="0">
                <a:solidFill>
                  <a:srgbClr val="D5E4EF"/>
                </a:solidFill>
                <a:latin typeface="Arial"/>
                <a:cs typeface="Arial"/>
              </a:rPr>
              <a:t>consumption, 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balancing </a:t>
            </a:r>
            <a:r>
              <a:rPr sz="1300" i="1" spc="-35" dirty="0">
                <a:solidFill>
                  <a:srgbClr val="D5E4EF"/>
                </a:solidFill>
                <a:latin typeface="Arial"/>
                <a:cs typeface="Arial"/>
              </a:rPr>
              <a:t>affordability,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65" dirty="0">
                <a:solidFill>
                  <a:srgbClr val="D5E4EF"/>
                </a:solidFill>
                <a:latin typeface="Arial"/>
                <a:cs typeface="Arial"/>
              </a:rPr>
              <a:t>accessibility,</a:t>
            </a:r>
            <a:r>
              <a:rPr sz="1300" i="1" spc="-55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65" dirty="0">
                <a:solidFill>
                  <a:srgbClr val="D5E4EF"/>
                </a:solidFill>
                <a:latin typeface="Arial"/>
                <a:cs typeface="Arial"/>
              </a:rPr>
              <a:t>and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55" dirty="0">
                <a:solidFill>
                  <a:srgbClr val="D5E4EF"/>
                </a:solidFill>
                <a:latin typeface="Arial"/>
                <a:cs typeface="Arial"/>
              </a:rPr>
              <a:t>environmental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45" dirty="0">
                <a:solidFill>
                  <a:srgbClr val="D5E4EF"/>
                </a:solidFill>
                <a:latin typeface="Arial"/>
                <a:cs typeface="Arial"/>
              </a:rPr>
              <a:t>responsibility</a:t>
            </a:r>
            <a:r>
              <a:rPr sz="1300" i="1" spc="-55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20" dirty="0">
                <a:solidFill>
                  <a:srgbClr val="D5E4EF"/>
                </a:solidFill>
                <a:latin typeface="Arial"/>
                <a:cs typeface="Arial"/>
              </a:rPr>
              <a:t>in</a:t>
            </a:r>
            <a:r>
              <a:rPr sz="1300" i="1" spc="-6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50" dirty="0">
                <a:solidFill>
                  <a:srgbClr val="D5E4EF"/>
                </a:solidFill>
                <a:latin typeface="Arial"/>
                <a:cs typeface="Arial"/>
              </a:rPr>
              <a:t>a </a:t>
            </a:r>
            <a:r>
              <a:rPr sz="1300" i="1" spc="-65" dirty="0">
                <a:solidFill>
                  <a:srgbClr val="D5E4EF"/>
                </a:solidFill>
                <a:latin typeface="Arial"/>
                <a:cs typeface="Arial"/>
              </a:rPr>
              <a:t>single,</a:t>
            </a:r>
            <a:r>
              <a:rPr sz="1300" i="1" spc="-5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85" dirty="0">
                <a:solidFill>
                  <a:srgbClr val="D5E4EF"/>
                </a:solidFill>
                <a:latin typeface="Arial"/>
                <a:cs typeface="Arial"/>
              </a:rPr>
              <a:t>user-</a:t>
            </a:r>
            <a:r>
              <a:rPr sz="1300" i="1" spc="-35" dirty="0">
                <a:solidFill>
                  <a:srgbClr val="D5E4EF"/>
                </a:solidFill>
                <a:latin typeface="Arial"/>
                <a:cs typeface="Arial"/>
              </a:rPr>
              <a:t>friendly</a:t>
            </a:r>
            <a:r>
              <a:rPr sz="1300" i="1" spc="-50" dirty="0">
                <a:solidFill>
                  <a:srgbClr val="D5E4EF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D5E4EF"/>
                </a:solidFill>
                <a:latin typeface="Arial"/>
                <a:cs typeface="Arial"/>
              </a:rPr>
              <a:t>platform."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50" b="1" spc="-35" dirty="0">
                <a:solidFill>
                  <a:srgbClr val="D5E4EF"/>
                </a:solidFill>
                <a:latin typeface="Trebuchet MS"/>
                <a:cs typeface="Trebuchet MS"/>
              </a:rPr>
              <a:t>Thank</a:t>
            </a:r>
            <a:r>
              <a:rPr sz="1250" b="1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35" dirty="0">
                <a:solidFill>
                  <a:srgbClr val="D5E4EF"/>
                </a:solidFill>
                <a:latin typeface="Trebuchet MS"/>
                <a:cs typeface="Trebuchet MS"/>
              </a:rPr>
              <a:t>you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50" dirty="0">
                <a:solidFill>
                  <a:srgbClr val="D5E4EF"/>
                </a:solidFill>
                <a:latin typeface="Trebuchet MS"/>
                <a:cs typeface="Trebuchet MS"/>
              </a:rPr>
              <a:t>for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40" dirty="0">
                <a:solidFill>
                  <a:srgbClr val="D5E4EF"/>
                </a:solidFill>
                <a:latin typeface="Trebuchet MS"/>
                <a:cs typeface="Trebuchet MS"/>
              </a:rPr>
              <a:t>reviewing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25" dirty="0">
                <a:solidFill>
                  <a:srgbClr val="D5E4EF"/>
                </a:solidFill>
                <a:latin typeface="Trebuchet MS"/>
                <a:cs typeface="Trebuchet MS"/>
              </a:rPr>
              <a:t>this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70" dirty="0">
                <a:solidFill>
                  <a:srgbClr val="D5E4EF"/>
                </a:solidFill>
                <a:latin typeface="Trebuchet MS"/>
                <a:cs typeface="Trebuchet MS"/>
              </a:rPr>
              <a:t>project.</a:t>
            </a:r>
            <a:r>
              <a:rPr sz="1250" b="1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35" dirty="0">
                <a:solidFill>
                  <a:srgbClr val="D5E4EF"/>
                </a:solidFill>
                <a:latin typeface="Trebuchet MS"/>
                <a:cs typeface="Trebuchet MS"/>
              </a:rPr>
              <a:t>Questions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25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45" dirty="0">
                <a:solidFill>
                  <a:srgbClr val="D5E4EF"/>
                </a:solidFill>
                <a:latin typeface="Trebuchet MS"/>
                <a:cs typeface="Trebuchet MS"/>
              </a:rPr>
              <a:t>feedback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50" dirty="0">
                <a:solidFill>
                  <a:srgbClr val="D5E4EF"/>
                </a:solidFill>
                <a:latin typeface="Trebuchet MS"/>
                <a:cs typeface="Trebuchet MS"/>
              </a:rPr>
              <a:t>are</a:t>
            </a:r>
            <a:r>
              <a:rPr sz="1250" b="1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250" b="1" spc="-10" dirty="0">
                <a:solidFill>
                  <a:srgbClr val="D5E4EF"/>
                </a:solidFill>
                <a:latin typeface="Trebuchet MS"/>
                <a:cs typeface="Trebuchet MS"/>
              </a:rPr>
              <a:t>welcome!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1541</Words>
  <Application>Microsoft Office PowerPoint</Application>
  <PresentationFormat>Custom</PresentationFormat>
  <Paragraphs>150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Elite Shoppy Online Clothes Rental System</vt:lpstr>
      <vt:lpstr>Project Introduction</vt:lpstr>
      <vt:lpstr>Project Objectives</vt:lpstr>
      <vt:lpstr>System Overview</vt:lpstr>
      <vt:lpstr>Admin Panel Modules</vt:lpstr>
      <vt:lpstr>Key Features</vt:lpstr>
      <vt:lpstr>Technology Stack</vt:lpstr>
      <vt:lpstr>Database Structure</vt:lpstr>
      <vt:lpstr>Advantages &amp; Benefits</vt:lpstr>
      <vt:lpstr>Future Enhancements &amp; 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Shoppy Online Clothes Rental System</dc:title>
  <dc:creator>amreliwala aftab</dc:creator>
  <cp:lastModifiedBy>amreliwala aftab</cp:lastModifiedBy>
  <cp:revision>1</cp:revision>
  <dcterms:created xsi:type="dcterms:W3CDTF">2026-03-27T18:29:46Z</dcterms:created>
  <dcterms:modified xsi:type="dcterms:W3CDTF">2026-04-01T22:32:55Z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Creator">
    <vt:lpwstr>Aspose Pty Ltd.</vt:lpwstr>
  </property>
  <property fmtid="{D5CDD505-2E9C-101B-9397-08002B2CF9AE}" pid="4" name="LastSaved">
    <vt:filetime>2026-03-27T00:00:00Z</vt:filetime>
  </property>
  <property fmtid="{D5CDD505-2E9C-101B-9397-08002B2CF9AE}" pid="5" name="Producer">
    <vt:lpwstr>Aspose.PDF for .NET 26.2.0</vt:lpwstr>
  </property>
</Properties>
</file>